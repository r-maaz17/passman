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0" d="100"/>
          <a:sy n="60" d="100"/>
        </p:scale>
        <p:origin x="66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9200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sp>
        <p:nvSpPr>
          <p:cNvPr id="5" name="Text 2"/>
          <p:cNvSpPr/>
          <p:nvPr/>
        </p:nvSpPr>
        <p:spPr>
          <a:xfrm>
            <a:off x="833199" y="1415653"/>
            <a:ext cx="7477601" cy="1916430"/>
          </a:xfrm>
          <a:prstGeom prst="rect">
            <a:avLst/>
          </a:prstGeom>
          <a:noFill/>
          <a:ln/>
        </p:spPr>
        <p:txBody>
          <a:bodyPr wrap="square" rtlCol="0" anchor="t"/>
          <a:lstStyle/>
          <a:p>
            <a:pPr marL="0" indent="0">
              <a:lnSpc>
                <a:spcPts val="7545"/>
              </a:lnSpc>
              <a:buNone/>
            </a:pPr>
            <a:r>
              <a:rPr lang="en-US" sz="6036" b="1" dirty="0">
                <a:solidFill>
                  <a:srgbClr val="333F70"/>
                </a:solidFill>
                <a:latin typeface="Unbounded" pitchFamily="34" charset="0"/>
                <a:ea typeface="Unbounded" pitchFamily="34" charset="-122"/>
                <a:cs typeface="Unbounded" pitchFamily="34" charset="-120"/>
              </a:rPr>
              <a:t>Password </a:t>
            </a:r>
            <a:r>
              <a:rPr lang="en-US" sz="6036" b="1" dirty="0" smtClean="0">
                <a:solidFill>
                  <a:srgbClr val="333F70"/>
                </a:solidFill>
                <a:latin typeface="Unbounded" pitchFamily="34" charset="0"/>
                <a:ea typeface="Unbounded" pitchFamily="34" charset="-122"/>
                <a:cs typeface="Unbounded" pitchFamily="34" charset="-120"/>
              </a:rPr>
              <a:t>Manager</a:t>
            </a:r>
            <a:endParaRPr lang="en-US" sz="6036" dirty="0"/>
          </a:p>
        </p:txBody>
      </p:sp>
      <p:sp>
        <p:nvSpPr>
          <p:cNvPr id="6" name="Text 3"/>
          <p:cNvSpPr/>
          <p:nvPr/>
        </p:nvSpPr>
        <p:spPr>
          <a:xfrm>
            <a:off x="833199" y="3665339"/>
            <a:ext cx="7477601" cy="1421606"/>
          </a:xfrm>
          <a:prstGeom prst="rect">
            <a:avLst/>
          </a:prstGeom>
          <a:noFill/>
          <a:ln/>
        </p:spPr>
        <p:txBody>
          <a:bodyPr wrap="square" rtlCol="0" anchor="t"/>
          <a:lstStyle/>
          <a:p>
            <a:pPr marL="0" indent="0">
              <a:lnSpc>
                <a:spcPts val="2799"/>
              </a:lnSpc>
              <a:buNone/>
            </a:pPr>
            <a:r>
              <a:rPr lang="en-US" sz="1750" dirty="0">
                <a:solidFill>
                  <a:srgbClr val="333F70"/>
                </a:solidFill>
                <a:latin typeface="Open Sans" pitchFamily="34" charset="0"/>
                <a:ea typeface="Open Sans" pitchFamily="34" charset="-122"/>
                <a:cs typeface="Open Sans" pitchFamily="34" charset="-120"/>
              </a:rPr>
              <a:t>Secure your digital life with our cutting-edge password management solution. Centralize all your login credentials in one convenient and highly encrypted platform, giving you peace of mind and total control over your sensitive information.</a:t>
            </a:r>
            <a:endParaRPr lang="en-US" sz="1750" dirty="0"/>
          </a:p>
        </p:txBody>
      </p:sp>
      <p:pic>
        <p:nvPicPr>
          <p:cNvPr id="8" name="Image 1" descr="preencoded.png"/>
          <p:cNvPicPr>
            <a:picLocks noChangeAspect="1"/>
          </p:cNvPicPr>
          <p:nvPr/>
        </p:nvPicPr>
        <p:blipFill>
          <a:blip r:embed="rId4"/>
          <a:stretch>
            <a:fillRect/>
          </a:stretch>
        </p:blipFill>
        <p:spPr>
          <a:xfrm>
            <a:off x="1055370" y="5679162"/>
            <a:ext cx="277654" cy="222171"/>
          </a:xfrm>
          <a:prstGeom prst="rect">
            <a:avLst/>
          </a:prstGeom>
        </p:spPr>
      </p:pic>
      <p:sp>
        <p:nvSpPr>
          <p:cNvPr id="10" name="Text 6"/>
          <p:cNvSpPr/>
          <p:nvPr/>
        </p:nvSpPr>
        <p:spPr>
          <a:xfrm>
            <a:off x="1555194" y="6147554"/>
            <a:ext cx="6533436" cy="355402"/>
          </a:xfrm>
          <a:prstGeom prst="rect">
            <a:avLst/>
          </a:prstGeom>
          <a:noFill/>
          <a:ln/>
        </p:spPr>
        <p:txBody>
          <a:bodyPr wrap="none" rtlCol="0" anchor="t"/>
          <a:lstStyle/>
          <a:p>
            <a:pPr marL="0" indent="0">
              <a:lnSpc>
                <a:spcPts val="2799"/>
              </a:lnSpc>
              <a:buNone/>
            </a:pPr>
            <a:r>
              <a:rPr lang="en-US" sz="1750" dirty="0" smtClean="0">
                <a:solidFill>
                  <a:srgbClr val="000000"/>
                </a:solidFill>
                <a:latin typeface="Open Sans" pitchFamily="34" charset="0"/>
                <a:ea typeface="Open Sans" pitchFamily="34" charset="-122"/>
                <a:cs typeface="Open Sans" pitchFamily="34" charset="-120"/>
              </a:rPr>
              <a:t>Abdullah Afzal		    2021-CS-80</a:t>
            </a:r>
          </a:p>
          <a:p>
            <a:pPr marL="0" indent="0">
              <a:lnSpc>
                <a:spcPts val="2799"/>
              </a:lnSpc>
              <a:buNone/>
            </a:pPr>
            <a:r>
              <a:rPr lang="en-US" sz="1750" dirty="0" smtClean="0">
                <a:solidFill>
                  <a:srgbClr val="000000"/>
                </a:solidFill>
                <a:latin typeface="Open Sans" pitchFamily="34" charset="0"/>
                <a:ea typeface="Open Sans" pitchFamily="34" charset="-122"/>
                <a:cs typeface="Open Sans" pitchFamily="34" charset="-120"/>
              </a:rPr>
              <a:t>Ali </a:t>
            </a:r>
            <a:r>
              <a:rPr lang="en-US" sz="1750" dirty="0" err="1" smtClean="0">
                <a:solidFill>
                  <a:srgbClr val="000000"/>
                </a:solidFill>
                <a:latin typeface="Open Sans" pitchFamily="34" charset="0"/>
                <a:ea typeface="Open Sans" pitchFamily="34" charset="-122"/>
                <a:cs typeface="Open Sans" pitchFamily="34" charset="-120"/>
              </a:rPr>
              <a:t>Ahmar</a:t>
            </a:r>
            <a:r>
              <a:rPr lang="en-US" sz="1750" dirty="0" smtClean="0">
                <a:solidFill>
                  <a:srgbClr val="000000"/>
                </a:solidFill>
                <a:latin typeface="Open Sans" pitchFamily="34" charset="0"/>
                <a:ea typeface="Open Sans" pitchFamily="34" charset="-122"/>
                <a:cs typeface="Open Sans" pitchFamily="34" charset="-120"/>
              </a:rPr>
              <a:t>		    2021-CS-100</a:t>
            </a:r>
          </a:p>
          <a:p>
            <a:pPr marL="0" indent="0">
              <a:lnSpc>
                <a:spcPts val="2799"/>
              </a:lnSpc>
              <a:buNone/>
            </a:pPr>
            <a:r>
              <a:rPr lang="en-US" sz="1750" dirty="0" smtClean="0">
                <a:solidFill>
                  <a:srgbClr val="000000"/>
                </a:solidFill>
                <a:latin typeface="Open Sans" pitchFamily="34" charset="0"/>
                <a:ea typeface="Open Sans" pitchFamily="34" charset="-122"/>
                <a:cs typeface="Open Sans" pitchFamily="34" charset="-120"/>
              </a:rPr>
              <a:t>Muhammad</a:t>
            </a:r>
            <a:r>
              <a:rPr lang="en-US" sz="1750" dirty="0" smtClean="0">
                <a:solidFill>
                  <a:srgbClr val="000000"/>
                </a:solidFill>
                <a:latin typeface="Open Sans" pitchFamily="34" charset="0"/>
                <a:ea typeface="Open Sans" pitchFamily="34" charset="-122"/>
                <a:cs typeface="Open Sans" pitchFamily="34" charset="-120"/>
              </a:rPr>
              <a:t> </a:t>
            </a:r>
            <a:r>
              <a:rPr lang="en-US" sz="1750" dirty="0" err="1">
                <a:solidFill>
                  <a:srgbClr val="000000"/>
                </a:solidFill>
                <a:latin typeface="Open Sans" pitchFamily="34" charset="0"/>
                <a:ea typeface="Open Sans" pitchFamily="34" charset="-122"/>
                <a:cs typeface="Open Sans" pitchFamily="34" charset="-120"/>
              </a:rPr>
              <a:t>Maaz</a:t>
            </a:r>
            <a:r>
              <a:rPr lang="en-US" sz="1750" dirty="0">
                <a:solidFill>
                  <a:srgbClr val="000000"/>
                </a:solidFill>
                <a:latin typeface="Open Sans" pitchFamily="34" charset="0"/>
                <a:ea typeface="Open Sans" pitchFamily="34" charset="-122"/>
                <a:cs typeface="Open Sans" pitchFamily="34" charset="-120"/>
              </a:rPr>
              <a:t>                   </a:t>
            </a:r>
            <a:r>
              <a:rPr lang="en-US" sz="1750" dirty="0" smtClean="0">
                <a:solidFill>
                  <a:srgbClr val="000000"/>
                </a:solidFill>
                <a:latin typeface="Open Sans" pitchFamily="34" charset="0"/>
                <a:ea typeface="Open Sans" pitchFamily="34" charset="-122"/>
                <a:cs typeface="Open Sans" pitchFamily="34" charset="-120"/>
              </a:rPr>
              <a:t>2021-CS-101</a:t>
            </a:r>
          </a:p>
          <a:p>
            <a:pPr marL="0" indent="0">
              <a:lnSpc>
                <a:spcPts val="2799"/>
              </a:lnSpc>
              <a:buNone/>
            </a:pPr>
            <a:endParaRPr lang="en-US" sz="1750" dirty="0" smtClean="0">
              <a:solidFill>
                <a:srgbClr val="000000"/>
              </a:solidFill>
              <a:latin typeface="Open Sans" pitchFamily="34" charset="0"/>
              <a:ea typeface="Open Sans" pitchFamily="34" charset="-122"/>
              <a:cs typeface="Open Sans" pitchFamily="34" charset="-120"/>
            </a:endParaRPr>
          </a:p>
          <a:p>
            <a:pPr marL="0" indent="0">
              <a:lnSpc>
                <a:spcPts val="2799"/>
              </a:lnSpc>
              <a:buNone/>
            </a:pP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sp>
        <p:nvSpPr>
          <p:cNvPr id="5" name="Text 2"/>
          <p:cNvSpPr/>
          <p:nvPr/>
        </p:nvSpPr>
        <p:spPr>
          <a:xfrm>
            <a:off x="833199" y="2445901"/>
            <a:ext cx="5554980" cy="694373"/>
          </a:xfrm>
          <a:prstGeom prst="rect">
            <a:avLst/>
          </a:prstGeom>
          <a:noFill/>
          <a:ln/>
        </p:spPr>
        <p:txBody>
          <a:bodyPr wrap="none" rtlCol="0" anchor="t"/>
          <a:lstStyle/>
          <a:p>
            <a:pPr marL="0" indent="0">
              <a:lnSpc>
                <a:spcPts val="5468"/>
              </a:lnSpc>
              <a:buNone/>
            </a:pPr>
            <a:r>
              <a:rPr lang="en-US" sz="4374" b="1" dirty="0">
                <a:solidFill>
                  <a:srgbClr val="333F70"/>
                </a:solidFill>
                <a:latin typeface="Unbounded" pitchFamily="34" charset="0"/>
                <a:ea typeface="Unbounded" pitchFamily="34" charset="-122"/>
                <a:cs typeface="Unbounded" pitchFamily="34" charset="-120"/>
              </a:rPr>
              <a:t>Objective</a:t>
            </a:r>
            <a:endParaRPr lang="en-US" sz="4374" dirty="0"/>
          </a:p>
        </p:txBody>
      </p:sp>
      <p:sp>
        <p:nvSpPr>
          <p:cNvPr id="6" name="Text 3"/>
          <p:cNvSpPr/>
          <p:nvPr/>
        </p:nvSpPr>
        <p:spPr>
          <a:xfrm>
            <a:off x="1188601" y="3473529"/>
            <a:ext cx="7122200" cy="710803"/>
          </a:xfrm>
          <a:prstGeom prst="rect">
            <a:avLst/>
          </a:prstGeom>
          <a:noFill/>
          <a:ln/>
        </p:spPr>
        <p:txBody>
          <a:bodyPr wrap="square" rtlCol="0" anchor="t"/>
          <a:lstStyle/>
          <a:p>
            <a:pPr marL="342900" indent="-342900" algn="l">
              <a:lnSpc>
                <a:spcPts val="2799"/>
              </a:lnSpc>
              <a:buSzPct val="100000"/>
              <a:buFont typeface="+mj-lt"/>
              <a:buAutoNum type="arabicPeriod"/>
            </a:pPr>
            <a:r>
              <a:rPr lang="en-US" sz="1750" dirty="0">
                <a:solidFill>
                  <a:srgbClr val="333F70"/>
                </a:solidFill>
                <a:latin typeface="Open Sans" pitchFamily="34" charset="0"/>
                <a:ea typeface="Open Sans" pitchFamily="34" charset="-122"/>
                <a:cs typeface="Open Sans" pitchFamily="34" charset="-120"/>
              </a:rPr>
              <a:t>Provide a secure and convenient platform to centralize all your login credentials.</a:t>
            </a:r>
            <a:endParaRPr lang="en-US" sz="1750" dirty="0"/>
          </a:p>
        </p:txBody>
      </p:sp>
      <p:sp>
        <p:nvSpPr>
          <p:cNvPr id="7" name="Text 4"/>
          <p:cNvSpPr/>
          <p:nvPr/>
        </p:nvSpPr>
        <p:spPr>
          <a:xfrm>
            <a:off x="1188601" y="4273153"/>
            <a:ext cx="7122200" cy="710803"/>
          </a:xfrm>
          <a:prstGeom prst="rect">
            <a:avLst/>
          </a:prstGeom>
          <a:noFill/>
          <a:ln/>
        </p:spPr>
        <p:txBody>
          <a:bodyPr wrap="square" rtlCol="0" anchor="t"/>
          <a:lstStyle/>
          <a:p>
            <a:pPr marL="342900" indent="-342900" algn="l">
              <a:lnSpc>
                <a:spcPts val="2799"/>
              </a:lnSpc>
              <a:buSzPct val="100000"/>
              <a:buFont typeface="+mj-lt"/>
              <a:buAutoNum type="arabicPeriod" startAt="2"/>
            </a:pPr>
            <a:r>
              <a:rPr lang="en-US" sz="1750" dirty="0">
                <a:solidFill>
                  <a:srgbClr val="333F70"/>
                </a:solidFill>
                <a:latin typeface="Open Sans" pitchFamily="34" charset="0"/>
                <a:ea typeface="Open Sans" pitchFamily="34" charset="-122"/>
                <a:cs typeface="Open Sans" pitchFamily="34" charset="-120"/>
              </a:rPr>
              <a:t>Empower users with full control and peace of mind over their sensitive information.</a:t>
            </a:r>
            <a:endParaRPr lang="en-US" sz="1750" dirty="0"/>
          </a:p>
        </p:txBody>
      </p:sp>
      <p:sp>
        <p:nvSpPr>
          <p:cNvPr id="8" name="Text 5"/>
          <p:cNvSpPr/>
          <p:nvPr/>
        </p:nvSpPr>
        <p:spPr>
          <a:xfrm>
            <a:off x="1188601" y="5072777"/>
            <a:ext cx="7122200" cy="710803"/>
          </a:xfrm>
          <a:prstGeom prst="rect">
            <a:avLst/>
          </a:prstGeom>
          <a:noFill/>
          <a:ln/>
        </p:spPr>
        <p:txBody>
          <a:bodyPr wrap="square" rtlCol="0" anchor="t"/>
          <a:lstStyle/>
          <a:p>
            <a:pPr marL="342900" indent="-342900" algn="l">
              <a:lnSpc>
                <a:spcPts val="2799"/>
              </a:lnSpc>
              <a:buSzPct val="100000"/>
              <a:buFont typeface="+mj-lt"/>
              <a:buAutoNum type="arabicPeriod" startAt="3"/>
            </a:pPr>
            <a:r>
              <a:rPr lang="en-US" sz="1750" dirty="0">
                <a:solidFill>
                  <a:srgbClr val="333F70"/>
                </a:solidFill>
                <a:latin typeface="Open Sans" pitchFamily="34" charset="0"/>
                <a:ea typeface="Open Sans" pitchFamily="34" charset="-122"/>
                <a:cs typeface="Open Sans" pitchFamily="34" charset="-120"/>
              </a:rPr>
              <a:t>Offer cutting-edge encryption and authentication methods to safeguard against unauthorized access.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4" name="Text 2"/>
          <p:cNvSpPr/>
          <p:nvPr/>
        </p:nvSpPr>
        <p:spPr>
          <a:xfrm>
            <a:off x="2037993" y="1854398"/>
            <a:ext cx="9331166" cy="694373"/>
          </a:xfrm>
          <a:prstGeom prst="rect">
            <a:avLst/>
          </a:prstGeom>
          <a:noFill/>
          <a:ln/>
        </p:spPr>
        <p:txBody>
          <a:bodyPr wrap="none" rtlCol="0" anchor="t"/>
          <a:lstStyle/>
          <a:p>
            <a:pPr marL="0" indent="0">
              <a:lnSpc>
                <a:spcPts val="5468"/>
              </a:lnSpc>
              <a:buNone/>
            </a:pPr>
            <a:r>
              <a:rPr lang="en-US" sz="4374" b="1" dirty="0">
                <a:solidFill>
                  <a:srgbClr val="333F70"/>
                </a:solidFill>
                <a:latin typeface="Unbounded" pitchFamily="34" charset="0"/>
                <a:ea typeface="Unbounded" pitchFamily="34" charset="-122"/>
                <a:cs typeface="Unbounded" pitchFamily="34" charset="-120"/>
              </a:rPr>
              <a:t>Tools and Techniques Used</a:t>
            </a:r>
            <a:endParaRPr lang="en-US" sz="4374" dirty="0"/>
          </a:p>
        </p:txBody>
      </p:sp>
      <p:sp>
        <p:nvSpPr>
          <p:cNvPr id="5" name="Text 3"/>
          <p:cNvSpPr/>
          <p:nvPr/>
        </p:nvSpPr>
        <p:spPr>
          <a:xfrm>
            <a:off x="2037993" y="2993112"/>
            <a:ext cx="10554414" cy="355402"/>
          </a:xfrm>
          <a:prstGeom prst="rect">
            <a:avLst/>
          </a:prstGeom>
          <a:noFill/>
          <a:ln/>
        </p:spPr>
        <p:txBody>
          <a:bodyPr wrap="none" rtlCol="0" anchor="t"/>
          <a:lstStyle/>
          <a:p>
            <a:pPr marL="0" indent="0">
              <a:lnSpc>
                <a:spcPts val="2799"/>
              </a:lnSpc>
              <a:buNone/>
            </a:pPr>
            <a:r>
              <a:rPr lang="en-US" sz="1750" dirty="0">
                <a:solidFill>
                  <a:srgbClr val="333F70"/>
                </a:solidFill>
                <a:latin typeface="Open Sans" pitchFamily="34" charset="0"/>
                <a:ea typeface="Open Sans" pitchFamily="34" charset="-122"/>
                <a:cs typeface="Open Sans" pitchFamily="34" charset="-120"/>
              </a:rPr>
              <a:t>IDE: VS Code / Android Studio</a:t>
            </a:r>
            <a:endParaRPr lang="en-US" sz="1750" dirty="0"/>
          </a:p>
        </p:txBody>
      </p:sp>
      <p:sp>
        <p:nvSpPr>
          <p:cNvPr id="6" name="Text 4"/>
          <p:cNvSpPr/>
          <p:nvPr/>
        </p:nvSpPr>
        <p:spPr>
          <a:xfrm>
            <a:off x="2037993" y="3598426"/>
            <a:ext cx="10554414" cy="355402"/>
          </a:xfrm>
          <a:prstGeom prst="rect">
            <a:avLst/>
          </a:prstGeom>
          <a:noFill/>
          <a:ln/>
        </p:spPr>
        <p:txBody>
          <a:bodyPr wrap="none" rtlCol="0" anchor="t"/>
          <a:lstStyle/>
          <a:p>
            <a:pPr marL="0" indent="0">
              <a:lnSpc>
                <a:spcPts val="2799"/>
              </a:lnSpc>
              <a:buNone/>
            </a:pPr>
            <a:r>
              <a:rPr lang="en-US" sz="1750" dirty="0">
                <a:solidFill>
                  <a:srgbClr val="333F70"/>
                </a:solidFill>
                <a:latin typeface="Open Sans" pitchFamily="34" charset="0"/>
                <a:ea typeface="Open Sans" pitchFamily="34" charset="-122"/>
                <a:cs typeface="Open Sans" pitchFamily="34" charset="-120"/>
              </a:rPr>
              <a:t>Language: Dart</a:t>
            </a:r>
            <a:endParaRPr lang="en-US" sz="1750" dirty="0"/>
          </a:p>
        </p:txBody>
      </p:sp>
      <p:sp>
        <p:nvSpPr>
          <p:cNvPr id="7" name="Text 5"/>
          <p:cNvSpPr/>
          <p:nvPr/>
        </p:nvSpPr>
        <p:spPr>
          <a:xfrm>
            <a:off x="2037993" y="4203740"/>
            <a:ext cx="10554414" cy="355402"/>
          </a:xfrm>
          <a:prstGeom prst="rect">
            <a:avLst/>
          </a:prstGeom>
          <a:noFill/>
          <a:ln/>
        </p:spPr>
        <p:txBody>
          <a:bodyPr wrap="none" rtlCol="0" anchor="t"/>
          <a:lstStyle/>
          <a:p>
            <a:pPr marL="0" indent="0">
              <a:lnSpc>
                <a:spcPts val="2799"/>
              </a:lnSpc>
              <a:buNone/>
            </a:pPr>
            <a:r>
              <a:rPr lang="en-US" sz="1750" dirty="0">
                <a:solidFill>
                  <a:srgbClr val="333F70"/>
                </a:solidFill>
                <a:latin typeface="Open Sans" pitchFamily="34" charset="0"/>
                <a:ea typeface="Open Sans" pitchFamily="34" charset="-122"/>
                <a:cs typeface="Open Sans" pitchFamily="34" charset="-120"/>
              </a:rPr>
              <a:t>Framework: Flutter</a:t>
            </a:r>
            <a:endParaRPr lang="en-US" sz="1750" dirty="0"/>
          </a:p>
        </p:txBody>
      </p:sp>
      <p:sp>
        <p:nvSpPr>
          <p:cNvPr id="8" name="Text 6"/>
          <p:cNvSpPr/>
          <p:nvPr/>
        </p:nvSpPr>
        <p:spPr>
          <a:xfrm>
            <a:off x="2037993" y="4809053"/>
            <a:ext cx="10554414" cy="355402"/>
          </a:xfrm>
          <a:prstGeom prst="rect">
            <a:avLst/>
          </a:prstGeom>
          <a:noFill/>
          <a:ln/>
        </p:spPr>
        <p:txBody>
          <a:bodyPr wrap="none" rtlCol="0" anchor="t"/>
          <a:lstStyle/>
          <a:p>
            <a:pPr marL="0" indent="0">
              <a:lnSpc>
                <a:spcPts val="2799"/>
              </a:lnSpc>
              <a:buNone/>
            </a:pPr>
            <a:r>
              <a:rPr lang="en-US" sz="1750" dirty="0">
                <a:solidFill>
                  <a:srgbClr val="333F70"/>
                </a:solidFill>
                <a:latin typeface="Open Sans" pitchFamily="34" charset="0"/>
                <a:ea typeface="Open Sans" pitchFamily="34" charset="-122"/>
                <a:cs typeface="Open Sans" pitchFamily="34" charset="-120"/>
              </a:rPr>
              <a:t>Database: </a:t>
            </a:r>
            <a:r>
              <a:rPr lang="en-US" sz="1750" dirty="0" err="1" smtClean="0">
                <a:solidFill>
                  <a:srgbClr val="333F70"/>
                </a:solidFill>
                <a:latin typeface="Open Sans" pitchFamily="34" charset="0"/>
                <a:ea typeface="Open Sans" pitchFamily="34" charset="-122"/>
                <a:cs typeface="Open Sans" pitchFamily="34" charset="-120"/>
              </a:rPr>
              <a:t>Firebase,Hype</a:t>
            </a:r>
            <a:endParaRPr lang="en-US" sz="1750" dirty="0"/>
          </a:p>
        </p:txBody>
      </p:sp>
      <p:sp>
        <p:nvSpPr>
          <p:cNvPr id="9" name="Text 7"/>
          <p:cNvSpPr/>
          <p:nvPr/>
        </p:nvSpPr>
        <p:spPr>
          <a:xfrm>
            <a:off x="2037993" y="5414367"/>
            <a:ext cx="10554414" cy="355402"/>
          </a:xfrm>
          <a:prstGeom prst="rect">
            <a:avLst/>
          </a:prstGeom>
          <a:noFill/>
          <a:ln/>
        </p:spPr>
        <p:txBody>
          <a:bodyPr wrap="none" rtlCol="0" anchor="t"/>
          <a:lstStyle/>
          <a:p>
            <a:pPr marL="0" indent="0">
              <a:lnSpc>
                <a:spcPts val="2799"/>
              </a:lnSpc>
              <a:buNone/>
            </a:pPr>
            <a:r>
              <a:rPr lang="en-US" sz="1750" dirty="0">
                <a:solidFill>
                  <a:srgbClr val="333F70"/>
                </a:solidFill>
                <a:latin typeface="Open Sans" pitchFamily="34" charset="0"/>
                <a:ea typeface="Open Sans" pitchFamily="34" charset="-122"/>
                <a:cs typeface="Open Sans" pitchFamily="34" charset="-120"/>
              </a:rPr>
              <a:t>Report: Overleaf / Latex</a:t>
            </a:r>
            <a:endParaRPr lang="en-US" sz="1750" dirty="0"/>
          </a:p>
        </p:txBody>
      </p:sp>
      <p:sp>
        <p:nvSpPr>
          <p:cNvPr id="10" name="Text 8"/>
          <p:cNvSpPr/>
          <p:nvPr/>
        </p:nvSpPr>
        <p:spPr>
          <a:xfrm>
            <a:off x="2037993" y="6019681"/>
            <a:ext cx="10554414" cy="355402"/>
          </a:xfrm>
          <a:prstGeom prst="rect">
            <a:avLst/>
          </a:prstGeom>
          <a:noFill/>
          <a:ln/>
        </p:spPr>
        <p:txBody>
          <a:bodyPr wrap="none" rtlCol="0" anchor="t"/>
          <a:lstStyle/>
          <a:p>
            <a:pPr marL="0" indent="0">
              <a:lnSpc>
                <a:spcPts val="2799"/>
              </a:lnSpc>
              <a:buNone/>
            </a:pP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
        <p:nvSpPr>
          <p:cNvPr id="4" name="Text 2"/>
          <p:cNvSpPr/>
          <p:nvPr/>
        </p:nvSpPr>
        <p:spPr>
          <a:xfrm>
            <a:off x="2037993" y="1641872"/>
            <a:ext cx="8011478" cy="694373"/>
          </a:xfrm>
          <a:prstGeom prst="rect">
            <a:avLst/>
          </a:prstGeom>
          <a:noFill/>
          <a:ln/>
        </p:spPr>
        <p:txBody>
          <a:bodyPr wrap="none" rtlCol="0" anchor="t"/>
          <a:lstStyle/>
          <a:p>
            <a:pPr marL="0" indent="0">
              <a:lnSpc>
                <a:spcPts val="5468"/>
              </a:lnSpc>
              <a:buNone/>
            </a:pPr>
            <a:r>
              <a:rPr lang="en-US" sz="4374" b="1" dirty="0">
                <a:solidFill>
                  <a:srgbClr val="333F70"/>
                </a:solidFill>
                <a:latin typeface="Unbounded" pitchFamily="34" charset="0"/>
                <a:ea typeface="Unbounded" pitchFamily="34" charset="-122"/>
                <a:cs typeface="Unbounded" pitchFamily="34" charset="-120"/>
              </a:rPr>
              <a:t>Secure Your Digital Life</a:t>
            </a:r>
            <a:endParaRPr lang="en-US" sz="4374" dirty="0"/>
          </a:p>
        </p:txBody>
      </p:sp>
      <p:sp>
        <p:nvSpPr>
          <p:cNvPr id="5" name="Shape 3"/>
          <p:cNvSpPr/>
          <p:nvPr/>
        </p:nvSpPr>
        <p:spPr>
          <a:xfrm>
            <a:off x="2037993" y="3009781"/>
            <a:ext cx="388739" cy="388739"/>
          </a:xfrm>
          <a:prstGeom prst="roundRect">
            <a:avLst>
              <a:gd name="adj" fmla="val 25722"/>
            </a:avLst>
          </a:prstGeom>
          <a:solidFill>
            <a:srgbClr val="D6F5EE"/>
          </a:solidFill>
          <a:ln w="7620">
            <a:solidFill>
              <a:srgbClr val="BCDBD4"/>
            </a:solidFill>
            <a:prstDash val="solid"/>
          </a:ln>
        </p:spPr>
      </p:sp>
      <p:sp>
        <p:nvSpPr>
          <p:cNvPr id="6" name="Text 4"/>
          <p:cNvSpPr/>
          <p:nvPr/>
        </p:nvSpPr>
        <p:spPr>
          <a:xfrm>
            <a:off x="2648903" y="3030498"/>
            <a:ext cx="4555212" cy="694373"/>
          </a:xfrm>
          <a:prstGeom prst="rect">
            <a:avLst/>
          </a:prstGeom>
          <a:noFill/>
          <a:ln/>
        </p:spPr>
        <p:txBody>
          <a:bodyPr wrap="square" rtlCol="0" anchor="t"/>
          <a:lstStyle/>
          <a:p>
            <a:pPr marL="0" indent="0">
              <a:lnSpc>
                <a:spcPts val="2734"/>
              </a:lnSpc>
              <a:buNone/>
            </a:pPr>
            <a:r>
              <a:rPr lang="en-US" sz="2187" b="1" dirty="0" smtClean="0">
                <a:solidFill>
                  <a:srgbClr val="333F70"/>
                </a:solidFill>
                <a:latin typeface="Unbounded" pitchFamily="34" charset="0"/>
                <a:ea typeface="Unbounded" pitchFamily="34" charset="-122"/>
                <a:cs typeface="Unbounded" pitchFamily="34" charset="-120"/>
              </a:rPr>
              <a:t>Offline Password Management</a:t>
            </a:r>
            <a:endParaRPr lang="en-US" sz="2187" dirty="0"/>
          </a:p>
        </p:txBody>
      </p:sp>
      <p:sp>
        <p:nvSpPr>
          <p:cNvPr id="7" name="Text 5"/>
          <p:cNvSpPr/>
          <p:nvPr/>
        </p:nvSpPr>
        <p:spPr>
          <a:xfrm>
            <a:off x="2648903" y="3858101"/>
            <a:ext cx="4555212" cy="1066205"/>
          </a:xfrm>
          <a:prstGeom prst="rect">
            <a:avLst/>
          </a:prstGeom>
          <a:noFill/>
          <a:ln/>
        </p:spPr>
        <p:txBody>
          <a:bodyPr wrap="square" rtlCol="0" anchor="t"/>
          <a:lstStyle/>
          <a:p>
            <a:pPr marL="0" indent="0">
              <a:lnSpc>
                <a:spcPts val="2799"/>
              </a:lnSpc>
              <a:buNone/>
            </a:pPr>
            <a:r>
              <a:rPr lang="en-US" sz="1750" dirty="0">
                <a:solidFill>
                  <a:srgbClr val="333F70"/>
                </a:solidFill>
                <a:latin typeface="Open Sans" pitchFamily="34" charset="0"/>
                <a:ea typeface="Open Sans" pitchFamily="34" charset="-122"/>
                <a:cs typeface="Open Sans" pitchFamily="34" charset="-120"/>
              </a:rPr>
              <a:t>Store all your login credentials in one highly encrypted platform, safeguarding your sensitive </a:t>
            </a:r>
            <a:r>
              <a:rPr lang="en-US" sz="1750" smtClean="0">
                <a:solidFill>
                  <a:srgbClr val="333F70"/>
                </a:solidFill>
                <a:latin typeface="Open Sans" pitchFamily="34" charset="0"/>
                <a:ea typeface="Open Sans" pitchFamily="34" charset="-122"/>
                <a:cs typeface="Open Sans" pitchFamily="34" charset="-120"/>
              </a:rPr>
              <a:t>information offline.</a:t>
            </a:r>
            <a:endParaRPr lang="en-US" sz="1750" dirty="0"/>
          </a:p>
        </p:txBody>
      </p:sp>
      <p:sp>
        <p:nvSpPr>
          <p:cNvPr id="8" name="Shape 6"/>
          <p:cNvSpPr/>
          <p:nvPr/>
        </p:nvSpPr>
        <p:spPr>
          <a:xfrm>
            <a:off x="7426285" y="3009781"/>
            <a:ext cx="388739" cy="388739"/>
          </a:xfrm>
          <a:prstGeom prst="roundRect">
            <a:avLst>
              <a:gd name="adj" fmla="val 25722"/>
            </a:avLst>
          </a:prstGeom>
          <a:solidFill>
            <a:srgbClr val="D6F5EE"/>
          </a:solidFill>
          <a:ln w="7620">
            <a:solidFill>
              <a:srgbClr val="BCDBD4"/>
            </a:solidFill>
            <a:prstDash val="solid"/>
          </a:ln>
        </p:spPr>
      </p:sp>
      <p:sp>
        <p:nvSpPr>
          <p:cNvPr id="9" name="Text 7"/>
          <p:cNvSpPr/>
          <p:nvPr/>
        </p:nvSpPr>
        <p:spPr>
          <a:xfrm>
            <a:off x="8037195" y="3030498"/>
            <a:ext cx="4555212" cy="694373"/>
          </a:xfrm>
          <a:prstGeom prst="rect">
            <a:avLst/>
          </a:prstGeom>
          <a:noFill/>
          <a:ln/>
        </p:spPr>
        <p:txBody>
          <a:bodyPr wrap="square" rtlCol="0" anchor="t"/>
          <a:lstStyle/>
          <a:p>
            <a:pPr marL="0" indent="0">
              <a:lnSpc>
                <a:spcPts val="2734"/>
              </a:lnSpc>
              <a:buNone/>
            </a:pPr>
            <a:r>
              <a:rPr lang="en-US" sz="2187" b="1" dirty="0">
                <a:solidFill>
                  <a:srgbClr val="333F70"/>
                </a:solidFill>
                <a:latin typeface="Unbounded" pitchFamily="34" charset="0"/>
                <a:ea typeface="Unbounded" pitchFamily="34" charset="-122"/>
                <a:cs typeface="Unbounded" pitchFamily="34" charset="-120"/>
              </a:rPr>
              <a:t>Zero-Knowledge Architecture</a:t>
            </a:r>
            <a:endParaRPr lang="en-US" sz="2187" dirty="0"/>
          </a:p>
        </p:txBody>
      </p:sp>
      <p:sp>
        <p:nvSpPr>
          <p:cNvPr id="10" name="Text 8"/>
          <p:cNvSpPr/>
          <p:nvPr/>
        </p:nvSpPr>
        <p:spPr>
          <a:xfrm>
            <a:off x="8037195" y="3858101"/>
            <a:ext cx="4555212" cy="1066205"/>
          </a:xfrm>
          <a:prstGeom prst="rect">
            <a:avLst/>
          </a:prstGeom>
          <a:noFill/>
          <a:ln/>
        </p:spPr>
        <p:txBody>
          <a:bodyPr wrap="square" rtlCol="0" anchor="t"/>
          <a:lstStyle/>
          <a:p>
            <a:pPr marL="0" indent="0">
              <a:lnSpc>
                <a:spcPts val="2799"/>
              </a:lnSpc>
              <a:buNone/>
            </a:pPr>
            <a:r>
              <a:rPr lang="en-US" sz="1750" dirty="0">
                <a:solidFill>
                  <a:srgbClr val="333F70"/>
                </a:solidFill>
                <a:latin typeface="Open Sans" pitchFamily="34" charset="0"/>
                <a:ea typeface="Open Sans" pitchFamily="34" charset="-122"/>
                <a:cs typeface="Open Sans" pitchFamily="34" charset="-120"/>
              </a:rPr>
              <a:t>Ensure your data is accessible only to you, with no third-party access or visibility into your passwords.</a:t>
            </a:r>
            <a:endParaRPr lang="en-US" sz="1750" dirty="0"/>
          </a:p>
        </p:txBody>
      </p:sp>
      <p:sp>
        <p:nvSpPr>
          <p:cNvPr id="11" name="Shape 9"/>
          <p:cNvSpPr/>
          <p:nvPr/>
        </p:nvSpPr>
        <p:spPr>
          <a:xfrm>
            <a:off x="2037993" y="5375672"/>
            <a:ext cx="388739" cy="388739"/>
          </a:xfrm>
          <a:prstGeom prst="roundRect">
            <a:avLst>
              <a:gd name="adj" fmla="val 25722"/>
            </a:avLst>
          </a:prstGeom>
          <a:solidFill>
            <a:srgbClr val="D6F5EE"/>
          </a:solidFill>
          <a:ln w="7620">
            <a:solidFill>
              <a:srgbClr val="BCDBD4"/>
            </a:solidFill>
            <a:prstDash val="solid"/>
          </a:ln>
        </p:spPr>
      </p:sp>
      <p:sp>
        <p:nvSpPr>
          <p:cNvPr id="12" name="Text 10"/>
          <p:cNvSpPr/>
          <p:nvPr/>
        </p:nvSpPr>
        <p:spPr>
          <a:xfrm>
            <a:off x="2648903" y="5396389"/>
            <a:ext cx="4636889" cy="347186"/>
          </a:xfrm>
          <a:prstGeom prst="rect">
            <a:avLst/>
          </a:prstGeom>
          <a:noFill/>
          <a:ln/>
        </p:spPr>
        <p:txBody>
          <a:bodyPr wrap="none" rtlCol="0" anchor="t"/>
          <a:lstStyle/>
          <a:p>
            <a:pPr marL="0" indent="0">
              <a:lnSpc>
                <a:spcPts val="2734"/>
              </a:lnSpc>
              <a:buNone/>
            </a:pPr>
            <a:r>
              <a:rPr lang="en-US" sz="2187" b="1" dirty="0">
                <a:solidFill>
                  <a:srgbClr val="333F70"/>
                </a:solidFill>
                <a:latin typeface="Unbounded" pitchFamily="34" charset="0"/>
                <a:ea typeface="Unbounded" pitchFamily="34" charset="-122"/>
                <a:cs typeface="Unbounded" pitchFamily="34" charset="-120"/>
              </a:rPr>
              <a:t>Regular Backups and Sync</a:t>
            </a:r>
            <a:endParaRPr lang="en-US" sz="2187" dirty="0"/>
          </a:p>
        </p:txBody>
      </p:sp>
      <p:sp>
        <p:nvSpPr>
          <p:cNvPr id="13" name="Text 11"/>
          <p:cNvSpPr/>
          <p:nvPr/>
        </p:nvSpPr>
        <p:spPr>
          <a:xfrm>
            <a:off x="2648903" y="5876806"/>
            <a:ext cx="9943505" cy="710803"/>
          </a:xfrm>
          <a:prstGeom prst="rect">
            <a:avLst/>
          </a:prstGeom>
          <a:noFill/>
          <a:ln/>
        </p:spPr>
        <p:txBody>
          <a:bodyPr wrap="square" rtlCol="0" anchor="t"/>
          <a:lstStyle/>
          <a:p>
            <a:pPr marL="0" indent="0">
              <a:lnSpc>
                <a:spcPts val="2799"/>
              </a:lnSpc>
              <a:buNone/>
            </a:pPr>
            <a:r>
              <a:rPr lang="en-US" sz="1750" dirty="0">
                <a:solidFill>
                  <a:srgbClr val="333F70"/>
                </a:solidFill>
                <a:latin typeface="Open Sans" pitchFamily="34" charset="0"/>
                <a:ea typeface="Open Sans" pitchFamily="34" charset="-122"/>
                <a:cs typeface="Open Sans" pitchFamily="34" charset="-120"/>
              </a:rPr>
              <a:t>Automatically back up and sync your password data across devices, protecting against data loss or device failure.</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16042" y="0"/>
            <a:ext cx="14630400" cy="8233410"/>
          </a:xfrm>
          <a:prstGeom prst="rect">
            <a:avLst/>
          </a:prstGeom>
          <a:solidFill>
            <a:srgbClr val="FFFFFF"/>
          </a:solidFill>
          <a:ln/>
        </p:spPr>
      </p:sp>
      <p:sp>
        <p:nvSpPr>
          <p:cNvPr id="4" name="Text 2"/>
          <p:cNvSpPr/>
          <p:nvPr/>
        </p:nvSpPr>
        <p:spPr>
          <a:xfrm>
            <a:off x="1291007" y="1333791"/>
            <a:ext cx="4705350" cy="588169"/>
          </a:xfrm>
          <a:prstGeom prst="rect">
            <a:avLst/>
          </a:prstGeom>
          <a:noFill/>
          <a:ln/>
        </p:spPr>
        <p:txBody>
          <a:bodyPr wrap="none" rtlCol="0" anchor="t"/>
          <a:lstStyle/>
          <a:p>
            <a:pPr marL="0" indent="0">
              <a:lnSpc>
                <a:spcPts val="4631"/>
              </a:lnSpc>
              <a:buNone/>
            </a:pPr>
            <a:r>
              <a:rPr lang="en-US" sz="3705" b="1" dirty="0">
                <a:solidFill>
                  <a:srgbClr val="333F70"/>
                </a:solidFill>
                <a:latin typeface="Unbounded" pitchFamily="34" charset="0"/>
                <a:ea typeface="Unbounded" pitchFamily="34" charset="-122"/>
                <a:cs typeface="Unbounded" pitchFamily="34" charset="-120"/>
              </a:rPr>
              <a:t>Features</a:t>
            </a:r>
            <a:endParaRPr lang="en-US" sz="3705" b="1" dirty="0"/>
          </a:p>
        </p:txBody>
      </p:sp>
      <p:sp>
        <p:nvSpPr>
          <p:cNvPr id="10" name="Text 8"/>
          <p:cNvSpPr/>
          <p:nvPr/>
        </p:nvSpPr>
        <p:spPr>
          <a:xfrm>
            <a:off x="2845118" y="7414736"/>
            <a:ext cx="8940165" cy="301109"/>
          </a:xfrm>
          <a:prstGeom prst="rect">
            <a:avLst/>
          </a:prstGeom>
          <a:noFill/>
          <a:ln/>
        </p:spPr>
        <p:txBody>
          <a:bodyPr wrap="none" rtlCol="0" anchor="t"/>
          <a:lstStyle/>
          <a:p>
            <a:pPr marL="0" indent="0">
              <a:lnSpc>
                <a:spcPts val="2371"/>
              </a:lnSpc>
              <a:buNone/>
            </a:pPr>
            <a:endParaRPr lang="en-US" sz="1482" dirty="0"/>
          </a:p>
        </p:txBody>
      </p:sp>
      <p:sp>
        <p:nvSpPr>
          <p:cNvPr id="11" name="TextBox 10"/>
          <p:cNvSpPr txBox="1"/>
          <p:nvPr/>
        </p:nvSpPr>
        <p:spPr>
          <a:xfrm>
            <a:off x="1253257" y="2360474"/>
            <a:ext cx="5404215" cy="3416320"/>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solidFill>
                  <a:srgbClr val="333F70"/>
                </a:solidFill>
                <a:latin typeface="Open Sans" pitchFamily="34" charset="0"/>
                <a:ea typeface="Open Sans" pitchFamily="34" charset="-122"/>
                <a:cs typeface="Open Sans" pitchFamily="34" charset="-120"/>
              </a:rPr>
              <a:t>Two Factor Authentication</a:t>
            </a:r>
          </a:p>
          <a:p>
            <a:pPr marL="285750" indent="-285750">
              <a:lnSpc>
                <a:spcPct val="200000"/>
              </a:lnSpc>
              <a:buFont typeface="Arial" panose="020B0604020202020204" pitchFamily="34" charset="0"/>
              <a:buChar char="•"/>
            </a:pPr>
            <a:r>
              <a:rPr lang="en-US" dirty="0">
                <a:solidFill>
                  <a:srgbClr val="333F70"/>
                </a:solidFill>
                <a:latin typeface="Open Sans" pitchFamily="34" charset="0"/>
                <a:ea typeface="Open Sans" pitchFamily="34" charset="-122"/>
                <a:cs typeface="Open Sans" pitchFamily="34" charset="-120"/>
              </a:rPr>
              <a:t>Biometric </a:t>
            </a:r>
            <a:r>
              <a:rPr lang="en-US" dirty="0" smtClean="0">
                <a:solidFill>
                  <a:srgbClr val="333F70"/>
                </a:solidFill>
                <a:latin typeface="Open Sans" pitchFamily="34" charset="0"/>
                <a:ea typeface="Open Sans" pitchFamily="34" charset="-122"/>
                <a:cs typeface="Open Sans" pitchFamily="34" charset="-120"/>
              </a:rPr>
              <a:t>Authentication</a:t>
            </a:r>
            <a:endParaRPr lang="en-US" dirty="0">
              <a:solidFill>
                <a:srgbClr val="333F70"/>
              </a:solidFill>
              <a:latin typeface="Open Sans" pitchFamily="34" charset="0"/>
              <a:ea typeface="Open Sans" pitchFamily="34" charset="-122"/>
              <a:cs typeface="Open Sans" pitchFamily="34" charset="-120"/>
            </a:endParaRPr>
          </a:p>
          <a:p>
            <a:pPr marL="285750" indent="-285750">
              <a:lnSpc>
                <a:spcPct val="200000"/>
              </a:lnSpc>
              <a:buFont typeface="Arial" panose="020B0604020202020204" pitchFamily="34" charset="0"/>
              <a:buChar char="•"/>
            </a:pPr>
            <a:r>
              <a:rPr lang="en-US" dirty="0">
                <a:solidFill>
                  <a:srgbClr val="333F70"/>
                </a:solidFill>
                <a:latin typeface="Open Sans" pitchFamily="34" charset="0"/>
                <a:ea typeface="Open Sans" pitchFamily="34" charset="-122"/>
                <a:cs typeface="Open Sans" pitchFamily="34" charset="-120"/>
              </a:rPr>
              <a:t>Password Encryption</a:t>
            </a:r>
          </a:p>
          <a:p>
            <a:pPr marL="285750" indent="-285750">
              <a:lnSpc>
                <a:spcPct val="200000"/>
              </a:lnSpc>
              <a:buFont typeface="Arial" panose="020B0604020202020204" pitchFamily="34" charset="0"/>
              <a:buChar char="•"/>
            </a:pPr>
            <a:r>
              <a:rPr lang="en-US" dirty="0">
                <a:solidFill>
                  <a:srgbClr val="333F70"/>
                </a:solidFill>
                <a:latin typeface="Open Sans" pitchFamily="34" charset="0"/>
                <a:ea typeface="Open Sans" pitchFamily="34" charset="-122"/>
                <a:cs typeface="Open Sans" pitchFamily="34" charset="-120"/>
              </a:rPr>
              <a:t>Password Generation</a:t>
            </a:r>
          </a:p>
          <a:p>
            <a:pPr marL="285750" indent="-285750">
              <a:lnSpc>
                <a:spcPct val="200000"/>
              </a:lnSpc>
              <a:buFont typeface="Arial" panose="020B0604020202020204" pitchFamily="34" charset="0"/>
              <a:buChar char="•"/>
            </a:pPr>
            <a:r>
              <a:rPr lang="en-US" dirty="0">
                <a:solidFill>
                  <a:srgbClr val="333F70"/>
                </a:solidFill>
                <a:latin typeface="Open Sans" pitchFamily="34" charset="0"/>
                <a:ea typeface="Open Sans" pitchFamily="34" charset="-122"/>
                <a:cs typeface="Open Sans" pitchFamily="34" charset="-120"/>
              </a:rPr>
              <a:t>Secure Local Storage</a:t>
            </a:r>
          </a:p>
          <a:p>
            <a:pPr marL="285750" indent="-285750">
              <a:lnSpc>
                <a:spcPct val="200000"/>
              </a:lnSpc>
              <a:buFont typeface="Arial" panose="020B0604020202020204" pitchFamily="34" charset="0"/>
              <a:buChar char="•"/>
            </a:pPr>
            <a:r>
              <a:rPr lang="en-US" dirty="0" smtClean="0">
                <a:solidFill>
                  <a:srgbClr val="333F70"/>
                </a:solidFill>
                <a:latin typeface="Open Sans" pitchFamily="34" charset="0"/>
                <a:ea typeface="Open Sans" pitchFamily="34" charset="-122"/>
                <a:cs typeface="Open Sans" pitchFamily="34" charset="-120"/>
              </a:rPr>
              <a:t>Backup File</a:t>
            </a:r>
            <a:endParaRPr lang="en-US" dirty="0">
              <a:solidFill>
                <a:srgbClr val="333F70"/>
              </a:solidFill>
              <a:latin typeface="Open Sans" pitchFamily="34" charset="0"/>
              <a:ea typeface="Open Sans" pitchFamily="34" charset="-122"/>
              <a:cs typeface="Open Sans"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
        <p:nvSpPr>
          <p:cNvPr id="4" name="Text 2"/>
          <p:cNvSpPr/>
          <p:nvPr/>
        </p:nvSpPr>
        <p:spPr>
          <a:xfrm>
            <a:off x="2037993" y="2572107"/>
            <a:ext cx="7370564" cy="694373"/>
          </a:xfrm>
          <a:prstGeom prst="rect">
            <a:avLst/>
          </a:prstGeom>
          <a:noFill/>
          <a:ln/>
        </p:spPr>
        <p:txBody>
          <a:bodyPr wrap="none" rtlCol="0" anchor="t"/>
          <a:lstStyle/>
          <a:p>
            <a:pPr marL="0" indent="0">
              <a:lnSpc>
                <a:spcPts val="5468"/>
              </a:lnSpc>
              <a:buNone/>
            </a:pPr>
            <a:r>
              <a:rPr lang="en-US" sz="4374" b="1" dirty="0">
                <a:solidFill>
                  <a:srgbClr val="333F70"/>
                </a:solidFill>
                <a:latin typeface="Unbounded" pitchFamily="34" charset="0"/>
                <a:ea typeface="Unbounded" pitchFamily="34" charset="-122"/>
                <a:cs typeface="Unbounded" pitchFamily="34" charset="-120"/>
              </a:rPr>
              <a:t>Login Authentication</a:t>
            </a:r>
            <a:endParaRPr lang="en-US" sz="4374" dirty="0"/>
          </a:p>
        </p:txBody>
      </p:sp>
      <p:sp>
        <p:nvSpPr>
          <p:cNvPr id="5" name="Text 3"/>
          <p:cNvSpPr/>
          <p:nvPr/>
        </p:nvSpPr>
        <p:spPr>
          <a:xfrm>
            <a:off x="2037993" y="3821906"/>
            <a:ext cx="3684508" cy="347186"/>
          </a:xfrm>
          <a:prstGeom prst="rect">
            <a:avLst/>
          </a:prstGeom>
          <a:noFill/>
          <a:ln/>
        </p:spPr>
        <p:txBody>
          <a:bodyPr wrap="none" rtlCol="0" anchor="t"/>
          <a:lstStyle/>
          <a:p>
            <a:pPr marL="0" indent="0">
              <a:lnSpc>
                <a:spcPts val="2734"/>
              </a:lnSpc>
              <a:buNone/>
            </a:pPr>
            <a:r>
              <a:rPr lang="en-US" sz="2187" b="1" dirty="0">
                <a:solidFill>
                  <a:srgbClr val="333F70"/>
                </a:solidFill>
                <a:latin typeface="Unbounded" pitchFamily="34" charset="0"/>
                <a:ea typeface="Unbounded" pitchFamily="34" charset="-122"/>
                <a:cs typeface="Unbounded" pitchFamily="34" charset="-120"/>
              </a:rPr>
              <a:t>Login Authentication</a:t>
            </a:r>
            <a:endParaRPr lang="en-US" sz="2187" dirty="0"/>
          </a:p>
        </p:txBody>
      </p:sp>
      <p:sp>
        <p:nvSpPr>
          <p:cNvPr id="6" name="Text 4"/>
          <p:cNvSpPr/>
          <p:nvPr/>
        </p:nvSpPr>
        <p:spPr>
          <a:xfrm>
            <a:off x="2037993" y="4391263"/>
            <a:ext cx="5007293" cy="1066205"/>
          </a:xfrm>
          <a:prstGeom prst="rect">
            <a:avLst/>
          </a:prstGeom>
          <a:noFill/>
          <a:ln/>
        </p:spPr>
        <p:txBody>
          <a:bodyPr wrap="square" rtlCol="0" anchor="t"/>
          <a:lstStyle/>
          <a:p>
            <a:pPr marL="0" indent="0">
              <a:lnSpc>
                <a:spcPts val="2799"/>
              </a:lnSpc>
              <a:buNone/>
            </a:pPr>
            <a:r>
              <a:rPr lang="en-US" sz="1750" dirty="0">
                <a:solidFill>
                  <a:srgbClr val="333F70"/>
                </a:solidFill>
                <a:latin typeface="Open Sans" pitchFamily="34" charset="0"/>
                <a:ea typeface="Open Sans" pitchFamily="34" charset="-122"/>
                <a:cs typeface="Open Sans" pitchFamily="34" charset="-120"/>
              </a:rPr>
              <a:t>Enhance security with password login options. These provide an extra layer of protection against unauthorized access.</a:t>
            </a:r>
            <a:endParaRPr lang="en-US" sz="1750" dirty="0"/>
          </a:p>
        </p:txBody>
      </p:sp>
      <p:sp>
        <p:nvSpPr>
          <p:cNvPr id="7" name="Text 5"/>
          <p:cNvSpPr/>
          <p:nvPr/>
        </p:nvSpPr>
        <p:spPr>
          <a:xfrm>
            <a:off x="7594878" y="3821906"/>
            <a:ext cx="2806541" cy="347186"/>
          </a:xfrm>
          <a:prstGeom prst="rect">
            <a:avLst/>
          </a:prstGeom>
          <a:noFill/>
          <a:ln/>
        </p:spPr>
        <p:txBody>
          <a:bodyPr wrap="none" rtlCol="0" anchor="t"/>
          <a:lstStyle/>
          <a:p>
            <a:pPr marL="0" indent="0">
              <a:lnSpc>
                <a:spcPts val="2734"/>
              </a:lnSpc>
              <a:buNone/>
            </a:pPr>
            <a:r>
              <a:rPr lang="en-US" sz="2187" b="1" dirty="0">
                <a:solidFill>
                  <a:srgbClr val="333F70"/>
                </a:solidFill>
                <a:latin typeface="Unbounded" pitchFamily="34" charset="0"/>
                <a:ea typeface="Unbounded" pitchFamily="34" charset="-122"/>
                <a:cs typeface="Unbounded" pitchFamily="34" charset="-120"/>
              </a:rPr>
              <a:t>One-Time Codes</a:t>
            </a:r>
            <a:endParaRPr lang="en-US" sz="2187" dirty="0"/>
          </a:p>
        </p:txBody>
      </p:sp>
      <p:sp>
        <p:nvSpPr>
          <p:cNvPr id="8" name="Text 6"/>
          <p:cNvSpPr/>
          <p:nvPr/>
        </p:nvSpPr>
        <p:spPr>
          <a:xfrm>
            <a:off x="7594878" y="4391263"/>
            <a:ext cx="5005030" cy="1066205"/>
          </a:xfrm>
          <a:prstGeom prst="rect">
            <a:avLst/>
          </a:prstGeom>
          <a:noFill/>
          <a:ln/>
        </p:spPr>
        <p:txBody>
          <a:bodyPr wrap="square" rtlCol="0" anchor="t"/>
          <a:lstStyle/>
          <a:p>
            <a:pPr marL="0" indent="0">
              <a:lnSpc>
                <a:spcPts val="2799"/>
              </a:lnSpc>
              <a:buNone/>
            </a:pPr>
            <a:r>
              <a:rPr lang="en-US" sz="1750" dirty="0">
                <a:solidFill>
                  <a:srgbClr val="333F70"/>
                </a:solidFill>
                <a:latin typeface="Open Sans" pitchFamily="34" charset="0"/>
                <a:ea typeface="Open Sans" pitchFamily="34" charset="-122"/>
                <a:cs typeface="Open Sans" pitchFamily="34" charset="-120"/>
              </a:rPr>
              <a:t>Generate and enter unique one-time codes sent to your registered device for an additional verification step.</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
        <p:nvSpPr>
          <p:cNvPr id="4" name="Text 2"/>
          <p:cNvSpPr/>
          <p:nvPr/>
        </p:nvSpPr>
        <p:spPr>
          <a:xfrm>
            <a:off x="2037993" y="1151692"/>
            <a:ext cx="10554414" cy="1388745"/>
          </a:xfrm>
          <a:prstGeom prst="rect">
            <a:avLst/>
          </a:prstGeom>
          <a:noFill/>
          <a:ln/>
        </p:spPr>
        <p:txBody>
          <a:bodyPr wrap="square" rtlCol="0" anchor="t"/>
          <a:lstStyle/>
          <a:p>
            <a:pPr marL="0" indent="0">
              <a:lnSpc>
                <a:spcPts val="5468"/>
              </a:lnSpc>
              <a:buNone/>
            </a:pPr>
            <a:r>
              <a:rPr lang="en-US" sz="4374" b="1" dirty="0">
                <a:solidFill>
                  <a:srgbClr val="333F70"/>
                </a:solidFill>
                <a:latin typeface="Unbounded" pitchFamily="34" charset="0"/>
                <a:ea typeface="Unbounded" pitchFamily="34" charset="-122"/>
                <a:cs typeface="Unbounded" pitchFamily="34" charset="-120"/>
              </a:rPr>
              <a:t>Generate Strong, Unique Passwords</a:t>
            </a:r>
            <a:endParaRPr lang="en-US" sz="4374" dirty="0"/>
          </a:p>
        </p:txBody>
      </p:sp>
      <p:pic>
        <p:nvPicPr>
          <p:cNvPr id="5" name="Image 0" descr="preencoded.png"/>
          <p:cNvPicPr>
            <a:picLocks noChangeAspect="1"/>
          </p:cNvPicPr>
          <p:nvPr/>
        </p:nvPicPr>
        <p:blipFill>
          <a:blip r:embed="rId3"/>
          <a:stretch>
            <a:fillRect/>
          </a:stretch>
        </p:blipFill>
        <p:spPr>
          <a:xfrm>
            <a:off x="2037993" y="2984778"/>
            <a:ext cx="555427" cy="555427"/>
          </a:xfrm>
          <a:prstGeom prst="rect">
            <a:avLst/>
          </a:prstGeom>
        </p:spPr>
      </p:pic>
      <p:sp>
        <p:nvSpPr>
          <p:cNvPr id="6" name="Text 3"/>
          <p:cNvSpPr/>
          <p:nvPr/>
        </p:nvSpPr>
        <p:spPr>
          <a:xfrm>
            <a:off x="2037993" y="3762375"/>
            <a:ext cx="2388632" cy="694373"/>
          </a:xfrm>
          <a:prstGeom prst="rect">
            <a:avLst/>
          </a:prstGeom>
          <a:noFill/>
          <a:ln/>
        </p:spPr>
        <p:txBody>
          <a:bodyPr wrap="square" rtlCol="0" anchor="t"/>
          <a:lstStyle/>
          <a:p>
            <a:pPr marL="0" indent="0" algn="l">
              <a:lnSpc>
                <a:spcPts val="2734"/>
              </a:lnSpc>
              <a:buNone/>
            </a:pPr>
            <a:r>
              <a:rPr lang="en-US" sz="2187" b="1" dirty="0">
                <a:solidFill>
                  <a:srgbClr val="333F70"/>
                </a:solidFill>
                <a:latin typeface="Unbounded" pitchFamily="34" charset="0"/>
                <a:ea typeface="Unbounded" pitchFamily="34" charset="-122"/>
                <a:cs typeface="Unbounded" pitchFamily="34" charset="-120"/>
              </a:rPr>
              <a:t>Unique Passwords</a:t>
            </a:r>
            <a:endParaRPr lang="en-US" sz="2187" dirty="0"/>
          </a:p>
        </p:txBody>
      </p:sp>
      <p:sp>
        <p:nvSpPr>
          <p:cNvPr id="7" name="Text 4"/>
          <p:cNvSpPr/>
          <p:nvPr/>
        </p:nvSpPr>
        <p:spPr>
          <a:xfrm>
            <a:off x="2037993" y="4589978"/>
            <a:ext cx="2388632" cy="2487811"/>
          </a:xfrm>
          <a:prstGeom prst="rect">
            <a:avLst/>
          </a:prstGeom>
          <a:noFill/>
          <a:ln/>
        </p:spPr>
        <p:txBody>
          <a:bodyPr wrap="square" rtlCol="0" anchor="t"/>
          <a:lstStyle/>
          <a:p>
            <a:pPr marL="0" indent="0" algn="l">
              <a:lnSpc>
                <a:spcPts val="2799"/>
              </a:lnSpc>
              <a:buNone/>
            </a:pPr>
            <a:r>
              <a:rPr lang="en-US" sz="1750" dirty="0">
                <a:solidFill>
                  <a:srgbClr val="333F70"/>
                </a:solidFill>
                <a:latin typeface="Open Sans" pitchFamily="34" charset="0"/>
                <a:ea typeface="Open Sans" pitchFamily="34" charset="-122"/>
                <a:cs typeface="Open Sans" pitchFamily="34" charset="-120"/>
              </a:rPr>
              <a:t>Create a unique, random password for each of your accounts to prevent compromising all your logins if one password is discovered.</a:t>
            </a:r>
            <a:endParaRPr lang="en-US" sz="1750" dirty="0"/>
          </a:p>
        </p:txBody>
      </p:sp>
      <p:pic>
        <p:nvPicPr>
          <p:cNvPr id="8" name="Image 1" descr="preencoded.png"/>
          <p:cNvPicPr>
            <a:picLocks noChangeAspect="1"/>
          </p:cNvPicPr>
          <p:nvPr/>
        </p:nvPicPr>
        <p:blipFill>
          <a:blip r:embed="rId3"/>
          <a:stretch>
            <a:fillRect/>
          </a:stretch>
        </p:blipFill>
        <p:spPr>
          <a:xfrm>
            <a:off x="4759881" y="2984778"/>
            <a:ext cx="555427" cy="555427"/>
          </a:xfrm>
          <a:prstGeom prst="rect">
            <a:avLst/>
          </a:prstGeom>
        </p:spPr>
      </p:pic>
      <p:sp>
        <p:nvSpPr>
          <p:cNvPr id="9" name="Text 5"/>
          <p:cNvSpPr/>
          <p:nvPr/>
        </p:nvSpPr>
        <p:spPr>
          <a:xfrm>
            <a:off x="4759881" y="3762375"/>
            <a:ext cx="2388632" cy="694373"/>
          </a:xfrm>
          <a:prstGeom prst="rect">
            <a:avLst/>
          </a:prstGeom>
          <a:noFill/>
          <a:ln/>
        </p:spPr>
        <p:txBody>
          <a:bodyPr wrap="square" rtlCol="0" anchor="t"/>
          <a:lstStyle/>
          <a:p>
            <a:pPr marL="0" indent="0" algn="l">
              <a:lnSpc>
                <a:spcPts val="2734"/>
              </a:lnSpc>
              <a:buNone/>
            </a:pPr>
            <a:r>
              <a:rPr lang="en-US" sz="2187" b="1" dirty="0">
                <a:solidFill>
                  <a:srgbClr val="333F70"/>
                </a:solidFill>
                <a:latin typeface="Unbounded" pitchFamily="34" charset="0"/>
                <a:ea typeface="Unbounded" pitchFamily="34" charset="-122"/>
                <a:cs typeface="Unbounded" pitchFamily="34" charset="-120"/>
              </a:rPr>
              <a:t>Password Generator</a:t>
            </a:r>
            <a:endParaRPr lang="en-US" sz="2187" dirty="0"/>
          </a:p>
        </p:txBody>
      </p:sp>
      <p:sp>
        <p:nvSpPr>
          <p:cNvPr id="10" name="Text 6"/>
          <p:cNvSpPr/>
          <p:nvPr/>
        </p:nvSpPr>
        <p:spPr>
          <a:xfrm>
            <a:off x="4759881" y="4589978"/>
            <a:ext cx="2388632" cy="2132409"/>
          </a:xfrm>
          <a:prstGeom prst="rect">
            <a:avLst/>
          </a:prstGeom>
          <a:noFill/>
          <a:ln/>
        </p:spPr>
        <p:txBody>
          <a:bodyPr wrap="square" rtlCol="0" anchor="t"/>
          <a:lstStyle/>
          <a:p>
            <a:pPr marL="0" indent="0" algn="l">
              <a:lnSpc>
                <a:spcPts val="2799"/>
              </a:lnSpc>
              <a:buNone/>
            </a:pPr>
            <a:r>
              <a:rPr lang="en-US" sz="1750" dirty="0">
                <a:solidFill>
                  <a:srgbClr val="333F70"/>
                </a:solidFill>
                <a:latin typeface="Open Sans" pitchFamily="34" charset="0"/>
                <a:ea typeface="Open Sans" pitchFamily="34" charset="-122"/>
                <a:cs typeface="Open Sans" pitchFamily="34" charset="-120"/>
              </a:rPr>
              <a:t>Leverage our secure password generator to create long, complex passwords that are nearly impossible to crack.</a:t>
            </a:r>
            <a:endParaRPr lang="en-US" sz="1750" dirty="0"/>
          </a:p>
        </p:txBody>
      </p:sp>
      <p:pic>
        <p:nvPicPr>
          <p:cNvPr id="11" name="Image 2" descr="preencoded.png"/>
          <p:cNvPicPr>
            <a:picLocks noChangeAspect="1"/>
          </p:cNvPicPr>
          <p:nvPr/>
        </p:nvPicPr>
        <p:blipFill>
          <a:blip r:embed="rId3"/>
          <a:stretch>
            <a:fillRect/>
          </a:stretch>
        </p:blipFill>
        <p:spPr>
          <a:xfrm>
            <a:off x="7481768" y="2984778"/>
            <a:ext cx="555427" cy="555427"/>
          </a:xfrm>
          <a:prstGeom prst="rect">
            <a:avLst/>
          </a:prstGeom>
        </p:spPr>
      </p:pic>
      <p:sp>
        <p:nvSpPr>
          <p:cNvPr id="12" name="Text 7"/>
          <p:cNvSpPr/>
          <p:nvPr/>
        </p:nvSpPr>
        <p:spPr>
          <a:xfrm>
            <a:off x="7481768" y="3762375"/>
            <a:ext cx="2388632" cy="694373"/>
          </a:xfrm>
          <a:prstGeom prst="rect">
            <a:avLst/>
          </a:prstGeom>
          <a:noFill/>
          <a:ln/>
        </p:spPr>
        <p:txBody>
          <a:bodyPr wrap="square" rtlCol="0" anchor="t"/>
          <a:lstStyle/>
          <a:p>
            <a:pPr marL="0" indent="0" algn="l">
              <a:lnSpc>
                <a:spcPts val="2734"/>
              </a:lnSpc>
              <a:buNone/>
            </a:pPr>
            <a:r>
              <a:rPr lang="en-US" sz="2187" b="1" dirty="0">
                <a:solidFill>
                  <a:srgbClr val="333F70"/>
                </a:solidFill>
                <a:latin typeface="Unbounded" pitchFamily="34" charset="0"/>
                <a:ea typeface="Unbounded" pitchFamily="34" charset="-122"/>
                <a:cs typeface="Unbounded" pitchFamily="34" charset="-120"/>
              </a:rPr>
              <a:t>Password Strength</a:t>
            </a:r>
            <a:endParaRPr lang="en-US" sz="2187" dirty="0"/>
          </a:p>
        </p:txBody>
      </p:sp>
      <p:sp>
        <p:nvSpPr>
          <p:cNvPr id="13" name="Text 8"/>
          <p:cNvSpPr/>
          <p:nvPr/>
        </p:nvSpPr>
        <p:spPr>
          <a:xfrm>
            <a:off x="7481768" y="4589978"/>
            <a:ext cx="2388632" cy="2487811"/>
          </a:xfrm>
          <a:prstGeom prst="rect">
            <a:avLst/>
          </a:prstGeom>
          <a:noFill/>
          <a:ln/>
        </p:spPr>
        <p:txBody>
          <a:bodyPr wrap="square" rtlCol="0" anchor="t"/>
          <a:lstStyle/>
          <a:p>
            <a:pPr marL="0" indent="0" algn="l">
              <a:lnSpc>
                <a:spcPts val="2799"/>
              </a:lnSpc>
              <a:buNone/>
            </a:pPr>
            <a:r>
              <a:rPr lang="en-US" sz="1750" dirty="0">
                <a:solidFill>
                  <a:srgbClr val="333F70"/>
                </a:solidFill>
                <a:latin typeface="Open Sans" pitchFamily="34" charset="0"/>
                <a:ea typeface="Open Sans" pitchFamily="34" charset="-122"/>
                <a:cs typeface="Open Sans" pitchFamily="34" charset="-120"/>
              </a:rPr>
              <a:t>Assess the strength of your passwords and get recommendations to improve security by increasing length, complexity, and uniqueness.</a:t>
            </a:r>
            <a:endParaRPr lang="en-US" sz="1750" dirty="0"/>
          </a:p>
        </p:txBody>
      </p:sp>
      <p:pic>
        <p:nvPicPr>
          <p:cNvPr id="14" name="Image 3" descr="preencoded.png"/>
          <p:cNvPicPr>
            <a:picLocks noChangeAspect="1"/>
          </p:cNvPicPr>
          <p:nvPr/>
        </p:nvPicPr>
        <p:blipFill>
          <a:blip r:embed="rId3"/>
          <a:stretch>
            <a:fillRect/>
          </a:stretch>
        </p:blipFill>
        <p:spPr>
          <a:xfrm>
            <a:off x="10203656" y="2984778"/>
            <a:ext cx="555427" cy="555427"/>
          </a:xfrm>
          <a:prstGeom prst="rect">
            <a:avLst/>
          </a:prstGeom>
        </p:spPr>
      </p:pic>
      <p:sp>
        <p:nvSpPr>
          <p:cNvPr id="15" name="Text 9"/>
          <p:cNvSpPr/>
          <p:nvPr/>
        </p:nvSpPr>
        <p:spPr>
          <a:xfrm>
            <a:off x="10203656" y="3762375"/>
            <a:ext cx="2388751" cy="694373"/>
          </a:xfrm>
          <a:prstGeom prst="rect">
            <a:avLst/>
          </a:prstGeom>
          <a:noFill/>
          <a:ln/>
        </p:spPr>
        <p:txBody>
          <a:bodyPr wrap="square" rtlCol="0" anchor="t"/>
          <a:lstStyle/>
          <a:p>
            <a:pPr marL="0" indent="0" algn="l">
              <a:lnSpc>
                <a:spcPts val="2734"/>
              </a:lnSpc>
              <a:buNone/>
            </a:pPr>
            <a:r>
              <a:rPr lang="en-US" sz="2187" b="1" dirty="0">
                <a:solidFill>
                  <a:srgbClr val="333F70"/>
                </a:solidFill>
                <a:latin typeface="Unbounded" pitchFamily="34" charset="0"/>
                <a:ea typeface="Unbounded" pitchFamily="34" charset="-122"/>
                <a:cs typeface="Unbounded" pitchFamily="34" charset="-120"/>
              </a:rPr>
              <a:t>Password Manager</a:t>
            </a:r>
            <a:endParaRPr lang="en-US" sz="2187" dirty="0"/>
          </a:p>
        </p:txBody>
      </p:sp>
      <p:sp>
        <p:nvSpPr>
          <p:cNvPr id="16" name="Text 10"/>
          <p:cNvSpPr/>
          <p:nvPr/>
        </p:nvSpPr>
        <p:spPr>
          <a:xfrm>
            <a:off x="10203656" y="4589978"/>
            <a:ext cx="2388751" cy="2132409"/>
          </a:xfrm>
          <a:prstGeom prst="rect">
            <a:avLst/>
          </a:prstGeom>
          <a:noFill/>
          <a:ln/>
        </p:spPr>
        <p:txBody>
          <a:bodyPr wrap="square" rtlCol="0" anchor="t"/>
          <a:lstStyle/>
          <a:p>
            <a:pPr marL="0" indent="0" algn="l">
              <a:lnSpc>
                <a:spcPts val="2799"/>
              </a:lnSpc>
              <a:buNone/>
            </a:pPr>
            <a:r>
              <a:rPr lang="en-US" sz="1750" dirty="0">
                <a:solidFill>
                  <a:srgbClr val="333F70"/>
                </a:solidFill>
                <a:latin typeface="Open Sans" pitchFamily="34" charset="0"/>
                <a:ea typeface="Open Sans" pitchFamily="34" charset="-122"/>
                <a:cs typeface="Open Sans" pitchFamily="34" charset="-120"/>
              </a:rPr>
              <a:t>Store your strong, unique passwords securely in our encrypted password vault, accessible only to you.</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p:cNvPicPr>
            <a:picLocks noChangeAspect="1"/>
          </p:cNvPicPr>
          <p:nvPr/>
        </p:nvPicPr>
        <p:blipFill>
          <a:blip r:embed="rId3"/>
          <a:stretch>
            <a:fillRect/>
          </a:stretch>
        </p:blipFill>
        <p:spPr>
          <a:xfrm>
            <a:off x="0" y="0"/>
            <a:ext cx="14630400" cy="2518529"/>
          </a:xfrm>
          <a:prstGeom prst="rect">
            <a:avLst/>
          </a:prstGeom>
        </p:spPr>
      </p:pic>
      <p:sp>
        <p:nvSpPr>
          <p:cNvPr id="5" name="Text 2"/>
          <p:cNvSpPr/>
          <p:nvPr/>
        </p:nvSpPr>
        <p:spPr>
          <a:xfrm>
            <a:off x="2529840" y="3072527"/>
            <a:ext cx="6956227" cy="629603"/>
          </a:xfrm>
          <a:prstGeom prst="rect">
            <a:avLst/>
          </a:prstGeom>
          <a:noFill/>
          <a:ln/>
        </p:spPr>
        <p:txBody>
          <a:bodyPr wrap="none" rtlCol="0" anchor="t"/>
          <a:lstStyle/>
          <a:p>
            <a:pPr marL="0" indent="0">
              <a:lnSpc>
                <a:spcPts val="4958"/>
              </a:lnSpc>
              <a:buNone/>
            </a:pPr>
            <a:r>
              <a:rPr lang="en-US" sz="3966" b="1" dirty="0">
                <a:solidFill>
                  <a:srgbClr val="333F70"/>
                </a:solidFill>
                <a:latin typeface="Unbounded" pitchFamily="34" charset="0"/>
                <a:ea typeface="Unbounded" pitchFamily="34" charset="-122"/>
                <a:cs typeface="Unbounded" pitchFamily="34" charset="-120"/>
              </a:rPr>
              <a:t>Download Backup File</a:t>
            </a:r>
            <a:endParaRPr lang="en-US" sz="3966" dirty="0"/>
          </a:p>
        </p:txBody>
      </p:sp>
      <p:pic>
        <p:nvPicPr>
          <p:cNvPr id="6" name="Image 1" descr="preencoded.png"/>
          <p:cNvPicPr>
            <a:picLocks noChangeAspect="1"/>
          </p:cNvPicPr>
          <p:nvPr/>
        </p:nvPicPr>
        <p:blipFill>
          <a:blip r:embed="rId4"/>
          <a:stretch>
            <a:fillRect/>
          </a:stretch>
        </p:blipFill>
        <p:spPr>
          <a:xfrm>
            <a:off x="2529840" y="4004310"/>
            <a:ext cx="3190161" cy="805934"/>
          </a:xfrm>
          <a:prstGeom prst="rect">
            <a:avLst/>
          </a:prstGeom>
        </p:spPr>
      </p:pic>
      <p:sp>
        <p:nvSpPr>
          <p:cNvPr id="7" name="Text 3"/>
          <p:cNvSpPr/>
          <p:nvPr/>
        </p:nvSpPr>
        <p:spPr>
          <a:xfrm>
            <a:off x="2731294" y="5112425"/>
            <a:ext cx="2787253" cy="629364"/>
          </a:xfrm>
          <a:prstGeom prst="rect">
            <a:avLst/>
          </a:prstGeom>
          <a:noFill/>
          <a:ln/>
        </p:spPr>
        <p:txBody>
          <a:bodyPr wrap="square" rtlCol="0" anchor="t"/>
          <a:lstStyle/>
          <a:p>
            <a:pPr marL="0" indent="0" algn="l">
              <a:lnSpc>
                <a:spcPts val="2479"/>
              </a:lnSpc>
              <a:buNone/>
            </a:pPr>
            <a:r>
              <a:rPr lang="en-US" sz="1983" b="1" dirty="0">
                <a:solidFill>
                  <a:srgbClr val="333F70"/>
                </a:solidFill>
                <a:latin typeface="Unbounded" pitchFamily="34" charset="0"/>
                <a:ea typeface="Unbounded" pitchFamily="34" charset="-122"/>
                <a:cs typeface="Unbounded" pitchFamily="34" charset="-120"/>
              </a:rPr>
              <a:t>Automated Backups</a:t>
            </a:r>
            <a:endParaRPr lang="en-US" sz="1983" dirty="0"/>
          </a:p>
        </p:txBody>
      </p:sp>
      <p:sp>
        <p:nvSpPr>
          <p:cNvPr id="8" name="Text 4"/>
          <p:cNvSpPr/>
          <p:nvPr/>
        </p:nvSpPr>
        <p:spPr>
          <a:xfrm>
            <a:off x="2731294" y="5862637"/>
            <a:ext cx="2787253" cy="1611511"/>
          </a:xfrm>
          <a:prstGeom prst="rect">
            <a:avLst/>
          </a:prstGeom>
          <a:noFill/>
          <a:ln/>
        </p:spPr>
        <p:txBody>
          <a:bodyPr wrap="square" rtlCol="0" anchor="t"/>
          <a:lstStyle/>
          <a:p>
            <a:pPr marL="0" indent="0" algn="l">
              <a:lnSpc>
                <a:spcPts val="2538"/>
              </a:lnSpc>
              <a:buNone/>
            </a:pPr>
            <a:r>
              <a:rPr lang="en-US" sz="1587" dirty="0">
                <a:solidFill>
                  <a:srgbClr val="333F70"/>
                </a:solidFill>
                <a:latin typeface="Open Sans" pitchFamily="34" charset="0"/>
                <a:ea typeface="Open Sans" pitchFamily="34" charset="-122"/>
                <a:cs typeface="Open Sans" pitchFamily="34" charset="-120"/>
              </a:rPr>
              <a:t>Our password manager automatically creates secure backups of your data, ensuring your login credentials are never lost.</a:t>
            </a:r>
            <a:endParaRPr lang="en-US" sz="1587" dirty="0"/>
          </a:p>
        </p:txBody>
      </p:sp>
      <p:pic>
        <p:nvPicPr>
          <p:cNvPr id="9" name="Image 2" descr="preencoded.png"/>
          <p:cNvPicPr>
            <a:picLocks noChangeAspect="1"/>
          </p:cNvPicPr>
          <p:nvPr/>
        </p:nvPicPr>
        <p:blipFill>
          <a:blip r:embed="rId5"/>
          <a:stretch>
            <a:fillRect/>
          </a:stretch>
        </p:blipFill>
        <p:spPr>
          <a:xfrm>
            <a:off x="5720001" y="4004310"/>
            <a:ext cx="3190280" cy="805934"/>
          </a:xfrm>
          <a:prstGeom prst="rect">
            <a:avLst/>
          </a:prstGeom>
        </p:spPr>
      </p:pic>
      <p:sp>
        <p:nvSpPr>
          <p:cNvPr id="10" name="Text 5"/>
          <p:cNvSpPr/>
          <p:nvPr/>
        </p:nvSpPr>
        <p:spPr>
          <a:xfrm>
            <a:off x="5921454" y="5112425"/>
            <a:ext cx="2787372" cy="629364"/>
          </a:xfrm>
          <a:prstGeom prst="rect">
            <a:avLst/>
          </a:prstGeom>
          <a:noFill/>
          <a:ln/>
        </p:spPr>
        <p:txBody>
          <a:bodyPr wrap="square" rtlCol="0" anchor="t"/>
          <a:lstStyle/>
          <a:p>
            <a:pPr marL="0" indent="0" algn="l">
              <a:lnSpc>
                <a:spcPts val="2479"/>
              </a:lnSpc>
              <a:buNone/>
            </a:pPr>
            <a:r>
              <a:rPr lang="en-US" sz="1983" b="1" dirty="0">
                <a:solidFill>
                  <a:srgbClr val="333F70"/>
                </a:solidFill>
                <a:latin typeface="Unbounded" pitchFamily="34" charset="0"/>
                <a:ea typeface="Unbounded" pitchFamily="34" charset="-122"/>
                <a:cs typeface="Unbounded" pitchFamily="34" charset="-120"/>
              </a:rPr>
              <a:t>Download Backup</a:t>
            </a:r>
            <a:endParaRPr lang="en-US" sz="1983" dirty="0"/>
          </a:p>
        </p:txBody>
      </p:sp>
      <p:sp>
        <p:nvSpPr>
          <p:cNvPr id="11" name="Text 6"/>
          <p:cNvSpPr/>
          <p:nvPr/>
        </p:nvSpPr>
        <p:spPr>
          <a:xfrm>
            <a:off x="5921454" y="5862637"/>
            <a:ext cx="2787372" cy="1611511"/>
          </a:xfrm>
          <a:prstGeom prst="rect">
            <a:avLst/>
          </a:prstGeom>
          <a:noFill/>
          <a:ln/>
        </p:spPr>
        <p:txBody>
          <a:bodyPr wrap="square" rtlCol="0" anchor="t"/>
          <a:lstStyle/>
          <a:p>
            <a:pPr marL="0" indent="0" algn="l">
              <a:lnSpc>
                <a:spcPts val="2538"/>
              </a:lnSpc>
              <a:buNone/>
            </a:pPr>
            <a:r>
              <a:rPr lang="en-US" sz="1587" dirty="0">
                <a:solidFill>
                  <a:srgbClr val="333F70"/>
                </a:solidFill>
                <a:latin typeface="Open Sans" pitchFamily="34" charset="0"/>
                <a:ea typeface="Open Sans" pitchFamily="34" charset="-122"/>
                <a:cs typeface="Open Sans" pitchFamily="34" charset="-120"/>
              </a:rPr>
              <a:t>Access and download your encrypted backup file at any time, providing an additional layer of protection for your sensitive information.</a:t>
            </a:r>
            <a:endParaRPr lang="en-US" sz="1587" dirty="0"/>
          </a:p>
        </p:txBody>
      </p:sp>
      <p:pic>
        <p:nvPicPr>
          <p:cNvPr id="12" name="Image 3" descr="preencoded.png"/>
          <p:cNvPicPr>
            <a:picLocks noChangeAspect="1"/>
          </p:cNvPicPr>
          <p:nvPr/>
        </p:nvPicPr>
        <p:blipFill>
          <a:blip r:embed="rId6"/>
          <a:stretch>
            <a:fillRect/>
          </a:stretch>
        </p:blipFill>
        <p:spPr>
          <a:xfrm>
            <a:off x="8910280" y="4004310"/>
            <a:ext cx="3190280" cy="805934"/>
          </a:xfrm>
          <a:prstGeom prst="rect">
            <a:avLst/>
          </a:prstGeom>
        </p:spPr>
      </p:pic>
      <p:sp>
        <p:nvSpPr>
          <p:cNvPr id="13" name="Text 7"/>
          <p:cNvSpPr/>
          <p:nvPr/>
        </p:nvSpPr>
        <p:spPr>
          <a:xfrm>
            <a:off x="9111734" y="5112425"/>
            <a:ext cx="2787372" cy="629364"/>
          </a:xfrm>
          <a:prstGeom prst="rect">
            <a:avLst/>
          </a:prstGeom>
          <a:noFill/>
          <a:ln/>
        </p:spPr>
        <p:txBody>
          <a:bodyPr wrap="square" rtlCol="0" anchor="t"/>
          <a:lstStyle/>
          <a:p>
            <a:pPr marL="0" indent="0" algn="l">
              <a:lnSpc>
                <a:spcPts val="2479"/>
              </a:lnSpc>
              <a:buNone/>
            </a:pPr>
            <a:r>
              <a:rPr lang="en-US" sz="1983" b="1" dirty="0">
                <a:solidFill>
                  <a:srgbClr val="333F70"/>
                </a:solidFill>
                <a:latin typeface="Unbounded" pitchFamily="34" charset="0"/>
                <a:ea typeface="Unbounded" pitchFamily="34" charset="-122"/>
                <a:cs typeface="Unbounded" pitchFamily="34" charset="-120"/>
              </a:rPr>
              <a:t>Restore From Backup</a:t>
            </a:r>
            <a:endParaRPr lang="en-US" sz="1983" dirty="0"/>
          </a:p>
        </p:txBody>
      </p:sp>
      <p:sp>
        <p:nvSpPr>
          <p:cNvPr id="14" name="Text 8"/>
          <p:cNvSpPr/>
          <p:nvPr/>
        </p:nvSpPr>
        <p:spPr>
          <a:xfrm>
            <a:off x="9111734" y="5862637"/>
            <a:ext cx="2787372" cy="1611511"/>
          </a:xfrm>
          <a:prstGeom prst="rect">
            <a:avLst/>
          </a:prstGeom>
          <a:noFill/>
          <a:ln/>
        </p:spPr>
        <p:txBody>
          <a:bodyPr wrap="square" rtlCol="0" anchor="t"/>
          <a:lstStyle/>
          <a:p>
            <a:pPr marL="0" indent="0" algn="l">
              <a:lnSpc>
                <a:spcPts val="2538"/>
              </a:lnSpc>
              <a:buNone/>
            </a:pPr>
            <a:r>
              <a:rPr lang="en-US" sz="1587" dirty="0">
                <a:solidFill>
                  <a:srgbClr val="333F70"/>
                </a:solidFill>
                <a:latin typeface="Open Sans" pitchFamily="34" charset="0"/>
                <a:ea typeface="Open Sans" pitchFamily="34" charset="-122"/>
                <a:cs typeface="Open Sans" pitchFamily="34" charset="-120"/>
              </a:rPr>
              <a:t>In the event of a device failure or data loss, easily restore your password vault from the downloaded backup file.</a:t>
            </a:r>
            <a:endParaRPr lang="en-US" sz="158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
        <p:nvSpPr>
          <p:cNvPr id="4" name="Text 2"/>
          <p:cNvSpPr/>
          <p:nvPr/>
        </p:nvSpPr>
        <p:spPr>
          <a:xfrm>
            <a:off x="2037993" y="1590794"/>
            <a:ext cx="9898856" cy="694373"/>
          </a:xfrm>
          <a:prstGeom prst="rect">
            <a:avLst/>
          </a:prstGeom>
          <a:noFill/>
          <a:ln/>
        </p:spPr>
        <p:txBody>
          <a:bodyPr wrap="none" rtlCol="0" anchor="t"/>
          <a:lstStyle/>
          <a:p>
            <a:pPr marL="0" indent="0">
              <a:lnSpc>
                <a:spcPts val="5468"/>
              </a:lnSpc>
              <a:buNone/>
            </a:pPr>
            <a:r>
              <a:rPr lang="en-US" sz="4374" b="1" dirty="0">
                <a:solidFill>
                  <a:srgbClr val="333F70"/>
                </a:solidFill>
                <a:latin typeface="Unbounded" pitchFamily="34" charset="0"/>
                <a:ea typeface="Unbounded" pitchFamily="34" charset="-122"/>
                <a:cs typeface="Unbounded" pitchFamily="34" charset="-120"/>
              </a:rPr>
              <a:t>Best Practices Implemented</a:t>
            </a:r>
            <a:endParaRPr lang="en-US" sz="4374" dirty="0"/>
          </a:p>
        </p:txBody>
      </p:sp>
      <p:sp>
        <p:nvSpPr>
          <p:cNvPr id="5" name="Text 3"/>
          <p:cNvSpPr/>
          <p:nvPr/>
        </p:nvSpPr>
        <p:spPr>
          <a:xfrm>
            <a:off x="2393394" y="2729508"/>
            <a:ext cx="10199013" cy="710803"/>
          </a:xfrm>
          <a:prstGeom prst="rect">
            <a:avLst/>
          </a:prstGeom>
          <a:noFill/>
          <a:ln/>
        </p:spPr>
        <p:txBody>
          <a:bodyPr wrap="square" rtlCol="0" anchor="t"/>
          <a:lstStyle/>
          <a:p>
            <a:pPr marL="342900" indent="-342900" algn="l">
              <a:lnSpc>
                <a:spcPts val="2799"/>
              </a:lnSpc>
              <a:buSzPct val="100000"/>
              <a:buChar char="•"/>
            </a:pPr>
            <a:r>
              <a:rPr lang="en-US" sz="1750" b="1" dirty="0">
                <a:solidFill>
                  <a:srgbClr val="333F70"/>
                </a:solidFill>
                <a:latin typeface="Open Sans" pitchFamily="34" charset="0"/>
                <a:ea typeface="Open Sans" pitchFamily="34" charset="-122"/>
                <a:cs typeface="Open Sans" pitchFamily="34" charset="-120"/>
              </a:rPr>
              <a:t>Strong Password Encryption:</a:t>
            </a:r>
            <a:r>
              <a:rPr lang="en-US" sz="1750" dirty="0">
                <a:solidFill>
                  <a:srgbClr val="333F70"/>
                </a:solidFill>
                <a:latin typeface="Open Sans" pitchFamily="34" charset="0"/>
                <a:ea typeface="Open Sans" pitchFamily="34" charset="-122"/>
                <a:cs typeface="Open Sans" pitchFamily="34" charset="-120"/>
              </a:rPr>
              <a:t> Strict access controls, end-to-end encryption, and regular security audits to protect user data.</a:t>
            </a:r>
            <a:endParaRPr lang="en-US" sz="1750" dirty="0"/>
          </a:p>
        </p:txBody>
      </p:sp>
      <p:sp>
        <p:nvSpPr>
          <p:cNvPr id="6" name="Text 4"/>
          <p:cNvSpPr/>
          <p:nvPr/>
        </p:nvSpPr>
        <p:spPr>
          <a:xfrm>
            <a:off x="2393394" y="3529132"/>
            <a:ext cx="10199013" cy="710803"/>
          </a:xfrm>
          <a:prstGeom prst="rect">
            <a:avLst/>
          </a:prstGeom>
          <a:noFill/>
          <a:ln/>
        </p:spPr>
        <p:txBody>
          <a:bodyPr wrap="square" rtlCol="0" anchor="t"/>
          <a:lstStyle/>
          <a:p>
            <a:pPr marL="342900" indent="-342900" algn="l">
              <a:lnSpc>
                <a:spcPts val="2799"/>
              </a:lnSpc>
              <a:buSzPct val="100000"/>
              <a:buChar char="•"/>
            </a:pPr>
            <a:r>
              <a:rPr lang="en-US" sz="1750" b="1" dirty="0">
                <a:solidFill>
                  <a:srgbClr val="333F70"/>
                </a:solidFill>
                <a:latin typeface="Open Sans" pitchFamily="34" charset="0"/>
                <a:ea typeface="Open Sans" pitchFamily="34" charset="-122"/>
                <a:cs typeface="Open Sans" pitchFamily="34" charset="-120"/>
              </a:rPr>
              <a:t>Offline Data Storage:</a:t>
            </a:r>
            <a:r>
              <a:rPr lang="en-US" sz="1750" dirty="0">
                <a:solidFill>
                  <a:srgbClr val="333F70"/>
                </a:solidFill>
                <a:latin typeface="Open Sans" pitchFamily="34" charset="0"/>
                <a:ea typeface="Open Sans" pitchFamily="34" charset="-122"/>
                <a:cs typeface="Open Sans" pitchFamily="34" charset="-120"/>
              </a:rPr>
              <a:t> User passwords and credentials are securely stored offline, minimizing online exposure and vulnerability.</a:t>
            </a:r>
            <a:endParaRPr lang="en-US" sz="1750" dirty="0"/>
          </a:p>
        </p:txBody>
      </p:sp>
      <p:sp>
        <p:nvSpPr>
          <p:cNvPr id="7" name="Text 5"/>
          <p:cNvSpPr/>
          <p:nvPr/>
        </p:nvSpPr>
        <p:spPr>
          <a:xfrm>
            <a:off x="2393394" y="4328755"/>
            <a:ext cx="10199013" cy="710803"/>
          </a:xfrm>
          <a:prstGeom prst="rect">
            <a:avLst/>
          </a:prstGeom>
          <a:noFill/>
          <a:ln/>
        </p:spPr>
        <p:txBody>
          <a:bodyPr wrap="square" rtlCol="0" anchor="t"/>
          <a:lstStyle/>
          <a:p>
            <a:pPr marL="342900" indent="-342900" algn="l">
              <a:lnSpc>
                <a:spcPts val="2799"/>
              </a:lnSpc>
              <a:buSzPct val="100000"/>
              <a:buChar char="•"/>
            </a:pPr>
            <a:r>
              <a:rPr lang="en-US" sz="1750" b="1" dirty="0">
                <a:solidFill>
                  <a:srgbClr val="333F70"/>
                </a:solidFill>
                <a:latin typeface="Open Sans" pitchFamily="34" charset="0"/>
                <a:ea typeface="Open Sans" pitchFamily="34" charset="-122"/>
                <a:cs typeface="Open Sans" pitchFamily="34" charset="-120"/>
              </a:rPr>
              <a:t>Secure Data Transmission:</a:t>
            </a:r>
            <a:r>
              <a:rPr lang="en-US" sz="1750" dirty="0">
                <a:solidFill>
                  <a:srgbClr val="333F70"/>
                </a:solidFill>
                <a:latin typeface="Open Sans" pitchFamily="34" charset="0"/>
                <a:ea typeface="Open Sans" pitchFamily="34" charset="-122"/>
                <a:cs typeface="Open Sans" pitchFamily="34" charset="-120"/>
              </a:rPr>
              <a:t> Effortless synchronization of password data across devices, ensuring accessibility without compromising security.</a:t>
            </a:r>
            <a:endParaRPr lang="en-US" sz="1750" dirty="0"/>
          </a:p>
        </p:txBody>
      </p:sp>
      <p:sp>
        <p:nvSpPr>
          <p:cNvPr id="8" name="Text 6"/>
          <p:cNvSpPr/>
          <p:nvPr/>
        </p:nvSpPr>
        <p:spPr>
          <a:xfrm>
            <a:off x="2393394" y="5128379"/>
            <a:ext cx="10199013" cy="710803"/>
          </a:xfrm>
          <a:prstGeom prst="rect">
            <a:avLst/>
          </a:prstGeom>
          <a:noFill/>
          <a:ln/>
        </p:spPr>
        <p:txBody>
          <a:bodyPr wrap="square" rtlCol="0" anchor="t"/>
          <a:lstStyle/>
          <a:p>
            <a:pPr marL="342900" indent="-342900" algn="l">
              <a:lnSpc>
                <a:spcPts val="2799"/>
              </a:lnSpc>
              <a:buSzPct val="100000"/>
              <a:buChar char="•"/>
            </a:pPr>
            <a:r>
              <a:rPr lang="en-US" sz="1750" b="1" dirty="0">
                <a:solidFill>
                  <a:srgbClr val="333F70"/>
                </a:solidFill>
                <a:latin typeface="Open Sans" pitchFamily="34" charset="0"/>
                <a:ea typeface="Open Sans" pitchFamily="34" charset="-122"/>
                <a:cs typeface="Open Sans" pitchFamily="34" charset="-120"/>
              </a:rPr>
              <a:t>Robust Authentication Mechanisms: </a:t>
            </a:r>
            <a:r>
              <a:rPr lang="en-US" sz="1750" dirty="0">
                <a:solidFill>
                  <a:srgbClr val="333F70"/>
                </a:solidFill>
                <a:latin typeface="Open Sans" pitchFamily="34" charset="0"/>
                <a:ea typeface="Open Sans" pitchFamily="34" charset="-122"/>
                <a:cs typeface="Open Sans" pitchFamily="34" charset="-120"/>
              </a:rPr>
              <a:t>A robust login authentication system, ensures that only authorized users can access their password vault, bolstering overall account security.</a:t>
            </a:r>
            <a:endParaRPr lang="en-US" sz="1750" dirty="0"/>
          </a:p>
        </p:txBody>
      </p:sp>
      <p:sp>
        <p:nvSpPr>
          <p:cNvPr id="9" name="Text 7"/>
          <p:cNvSpPr/>
          <p:nvPr/>
        </p:nvSpPr>
        <p:spPr>
          <a:xfrm>
            <a:off x="2393394" y="5928003"/>
            <a:ext cx="10199013" cy="710803"/>
          </a:xfrm>
          <a:prstGeom prst="rect">
            <a:avLst/>
          </a:prstGeom>
          <a:noFill/>
          <a:ln/>
        </p:spPr>
        <p:txBody>
          <a:bodyPr wrap="square" rtlCol="0" anchor="t"/>
          <a:lstStyle/>
          <a:p>
            <a:pPr marL="342900" indent="-342900" algn="l">
              <a:lnSpc>
                <a:spcPts val="2799"/>
              </a:lnSpc>
              <a:buSzPct val="100000"/>
              <a:buChar char="•"/>
            </a:pPr>
            <a:r>
              <a:rPr lang="en-US" sz="1750" b="1" dirty="0">
                <a:solidFill>
                  <a:srgbClr val="333F70"/>
                </a:solidFill>
                <a:latin typeface="Open Sans" pitchFamily="34" charset="0"/>
                <a:ea typeface="Open Sans" pitchFamily="34" charset="-122"/>
                <a:cs typeface="Open Sans" pitchFamily="34" charset="-120"/>
              </a:rPr>
              <a:t>Backup Encryption: </a:t>
            </a:r>
            <a:r>
              <a:rPr lang="en-US" sz="1750" dirty="0">
                <a:solidFill>
                  <a:srgbClr val="333F70"/>
                </a:solidFill>
                <a:latin typeface="Open Sans" pitchFamily="34" charset="0"/>
                <a:ea typeface="Open Sans" pitchFamily="34" charset="-122"/>
                <a:cs typeface="Open Sans" pitchFamily="34" charset="-120"/>
              </a:rPr>
              <a:t>The option to download encrypted backup files adds an additional layer of security, ensuring that sensitive password data remains protected even in backup storage.</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1847195" y="-98881"/>
            <a:ext cx="14630400" cy="8312110"/>
          </a:xfrm>
          <a:prstGeom prst="rect">
            <a:avLst/>
          </a:prstGeom>
          <a:solidFill>
            <a:srgbClr val="FFFFFF"/>
          </a:solidFill>
          <a:ln/>
        </p:spPr>
      </p:sp>
      <p:sp>
        <p:nvSpPr>
          <p:cNvPr id="4" name="Text 2"/>
          <p:cNvSpPr/>
          <p:nvPr/>
        </p:nvSpPr>
        <p:spPr>
          <a:xfrm>
            <a:off x="3621167" y="427673"/>
            <a:ext cx="7388066" cy="972026"/>
          </a:xfrm>
          <a:prstGeom prst="rect">
            <a:avLst/>
          </a:prstGeom>
          <a:noFill/>
          <a:ln/>
        </p:spPr>
        <p:txBody>
          <a:bodyPr wrap="square" rtlCol="0" anchor="t"/>
          <a:lstStyle/>
          <a:p>
            <a:pPr marL="0" indent="0">
              <a:lnSpc>
                <a:spcPts val="3827"/>
              </a:lnSpc>
              <a:buNone/>
            </a:pPr>
            <a:r>
              <a:rPr lang="en-US" sz="3062" b="1" dirty="0">
                <a:solidFill>
                  <a:srgbClr val="333F70"/>
                </a:solidFill>
                <a:latin typeface="Unbounded" pitchFamily="34" charset="0"/>
                <a:ea typeface="Unbounded" pitchFamily="34" charset="-122"/>
                <a:cs typeface="Unbounded" pitchFamily="34" charset="-120"/>
              </a:rPr>
              <a:t>Potential Future Improvements</a:t>
            </a:r>
            <a:endParaRPr lang="en-US" sz="3062" dirty="0"/>
          </a:p>
        </p:txBody>
      </p:sp>
      <p:pic>
        <p:nvPicPr>
          <p:cNvPr id="5" name="Image 0" descr="preencoded.png"/>
          <p:cNvPicPr>
            <a:picLocks noChangeAspect="1"/>
          </p:cNvPicPr>
          <p:nvPr/>
        </p:nvPicPr>
        <p:blipFill>
          <a:blip r:embed="rId3"/>
          <a:stretch>
            <a:fillRect/>
          </a:stretch>
        </p:blipFill>
        <p:spPr>
          <a:xfrm>
            <a:off x="4858583" y="1710690"/>
            <a:ext cx="1218962" cy="1642110"/>
          </a:xfrm>
          <a:prstGeom prst="rect">
            <a:avLst/>
          </a:prstGeom>
        </p:spPr>
      </p:pic>
      <p:sp>
        <p:nvSpPr>
          <p:cNvPr id="6" name="Text 3"/>
          <p:cNvSpPr/>
          <p:nvPr/>
        </p:nvSpPr>
        <p:spPr>
          <a:xfrm>
            <a:off x="5417463" y="2599134"/>
            <a:ext cx="101084" cy="310991"/>
          </a:xfrm>
          <a:prstGeom prst="rect">
            <a:avLst/>
          </a:prstGeom>
          <a:noFill/>
          <a:ln/>
        </p:spPr>
        <p:txBody>
          <a:bodyPr wrap="none" rtlCol="0" anchor="t"/>
          <a:lstStyle/>
          <a:p>
            <a:pPr marL="0" indent="0" algn="ctr">
              <a:lnSpc>
                <a:spcPts val="2449"/>
              </a:lnSpc>
              <a:buNone/>
            </a:pPr>
            <a:r>
              <a:rPr lang="en-US" sz="1531" b="1" dirty="0">
                <a:solidFill>
                  <a:srgbClr val="333F70"/>
                </a:solidFill>
                <a:latin typeface="Unbounded" pitchFamily="34" charset="0"/>
                <a:ea typeface="Unbounded" pitchFamily="34" charset="-122"/>
                <a:cs typeface="Unbounded" pitchFamily="34" charset="-120"/>
              </a:rPr>
              <a:t>1</a:t>
            </a:r>
            <a:endParaRPr lang="en-US" sz="1531" dirty="0"/>
          </a:p>
        </p:txBody>
      </p:sp>
      <p:sp>
        <p:nvSpPr>
          <p:cNvPr id="7" name="Text 4"/>
          <p:cNvSpPr/>
          <p:nvPr/>
        </p:nvSpPr>
        <p:spPr>
          <a:xfrm>
            <a:off x="6233041" y="2114907"/>
            <a:ext cx="3580209" cy="243007"/>
          </a:xfrm>
          <a:prstGeom prst="rect">
            <a:avLst/>
          </a:prstGeom>
          <a:noFill/>
          <a:ln/>
        </p:spPr>
        <p:txBody>
          <a:bodyPr wrap="none" rtlCol="0" anchor="t"/>
          <a:lstStyle/>
          <a:p>
            <a:pPr marL="0" indent="0" algn="l">
              <a:lnSpc>
                <a:spcPts val="1914"/>
              </a:lnSpc>
              <a:buNone/>
            </a:pPr>
            <a:r>
              <a:rPr lang="en-US" sz="1531" b="1" dirty="0">
                <a:solidFill>
                  <a:srgbClr val="333F70"/>
                </a:solidFill>
                <a:latin typeface="Unbounded" pitchFamily="34" charset="0"/>
                <a:ea typeface="Unbounded" pitchFamily="34" charset="-122"/>
                <a:cs typeface="Unbounded" pitchFamily="34" charset="-120"/>
              </a:rPr>
              <a:t>Multi-Device Synchronization</a:t>
            </a:r>
            <a:endParaRPr lang="en-US" sz="1531" dirty="0"/>
          </a:p>
        </p:txBody>
      </p:sp>
      <p:sp>
        <p:nvSpPr>
          <p:cNvPr id="8" name="Text 5"/>
          <p:cNvSpPr/>
          <p:nvPr/>
        </p:nvSpPr>
        <p:spPr>
          <a:xfrm>
            <a:off x="6233041" y="2451140"/>
            <a:ext cx="4620697" cy="497443"/>
          </a:xfrm>
          <a:prstGeom prst="rect">
            <a:avLst/>
          </a:prstGeom>
          <a:noFill/>
          <a:ln/>
        </p:spPr>
        <p:txBody>
          <a:bodyPr wrap="square" rtlCol="0" anchor="t"/>
          <a:lstStyle/>
          <a:p>
            <a:pPr marL="0" indent="0" algn="l">
              <a:lnSpc>
                <a:spcPts val="1960"/>
              </a:lnSpc>
              <a:buNone/>
            </a:pPr>
            <a:r>
              <a:rPr lang="en-US" sz="1225" dirty="0">
                <a:solidFill>
                  <a:srgbClr val="333F70"/>
                </a:solidFill>
                <a:latin typeface="Open Sans" pitchFamily="34" charset="0"/>
                <a:ea typeface="Open Sans" pitchFamily="34" charset="-122"/>
                <a:cs typeface="Open Sans" pitchFamily="34" charset="-120"/>
              </a:rPr>
              <a:t>Capabilities across multiple devices while maintaining strong encryption and security protocols</a:t>
            </a:r>
            <a:endParaRPr lang="en-US" sz="1225" dirty="0"/>
          </a:p>
        </p:txBody>
      </p:sp>
      <p:sp>
        <p:nvSpPr>
          <p:cNvPr id="9" name="Shape 6"/>
          <p:cNvSpPr/>
          <p:nvPr/>
        </p:nvSpPr>
        <p:spPr>
          <a:xfrm>
            <a:off x="6116360" y="3356521"/>
            <a:ext cx="4854059" cy="15538"/>
          </a:xfrm>
          <a:prstGeom prst="roundRect">
            <a:avLst>
              <a:gd name="adj" fmla="val 450462"/>
            </a:avLst>
          </a:prstGeom>
          <a:solidFill>
            <a:srgbClr val="BCDBD4"/>
          </a:solidFill>
          <a:ln/>
        </p:spPr>
      </p:sp>
      <p:pic>
        <p:nvPicPr>
          <p:cNvPr id="10" name="Image 1" descr="preencoded.png"/>
          <p:cNvPicPr>
            <a:picLocks noChangeAspect="1"/>
          </p:cNvPicPr>
          <p:nvPr/>
        </p:nvPicPr>
        <p:blipFill>
          <a:blip r:embed="rId4"/>
          <a:stretch>
            <a:fillRect/>
          </a:stretch>
        </p:blipFill>
        <p:spPr>
          <a:xfrm>
            <a:off x="4249103" y="3391614"/>
            <a:ext cx="2438043" cy="1642110"/>
          </a:xfrm>
          <a:prstGeom prst="rect">
            <a:avLst/>
          </a:prstGeom>
        </p:spPr>
      </p:pic>
      <p:sp>
        <p:nvSpPr>
          <p:cNvPr id="11" name="Text 7"/>
          <p:cNvSpPr/>
          <p:nvPr/>
        </p:nvSpPr>
        <p:spPr>
          <a:xfrm>
            <a:off x="5386983" y="4057174"/>
            <a:ext cx="162282" cy="310991"/>
          </a:xfrm>
          <a:prstGeom prst="rect">
            <a:avLst/>
          </a:prstGeom>
          <a:noFill/>
          <a:ln/>
        </p:spPr>
        <p:txBody>
          <a:bodyPr wrap="none" rtlCol="0" anchor="t"/>
          <a:lstStyle/>
          <a:p>
            <a:pPr marL="0" indent="0" algn="ctr">
              <a:lnSpc>
                <a:spcPts val="2449"/>
              </a:lnSpc>
              <a:buNone/>
            </a:pPr>
            <a:r>
              <a:rPr lang="en-US" sz="1531" b="1" dirty="0">
                <a:solidFill>
                  <a:srgbClr val="333F70"/>
                </a:solidFill>
                <a:latin typeface="Unbounded" pitchFamily="34" charset="0"/>
                <a:ea typeface="Unbounded" pitchFamily="34" charset="-122"/>
                <a:cs typeface="Unbounded" pitchFamily="34" charset="-120"/>
              </a:rPr>
              <a:t>2</a:t>
            </a:r>
            <a:endParaRPr lang="en-US" sz="1531" dirty="0"/>
          </a:p>
        </p:txBody>
      </p:sp>
      <p:sp>
        <p:nvSpPr>
          <p:cNvPr id="12" name="Text 8"/>
          <p:cNvSpPr/>
          <p:nvPr/>
        </p:nvSpPr>
        <p:spPr>
          <a:xfrm>
            <a:off x="6842641" y="3547110"/>
            <a:ext cx="3101459" cy="243007"/>
          </a:xfrm>
          <a:prstGeom prst="rect">
            <a:avLst/>
          </a:prstGeom>
          <a:noFill/>
          <a:ln/>
        </p:spPr>
        <p:txBody>
          <a:bodyPr wrap="none" rtlCol="0" anchor="t"/>
          <a:lstStyle/>
          <a:p>
            <a:pPr>
              <a:lnSpc>
                <a:spcPts val="1914"/>
              </a:lnSpc>
            </a:pPr>
            <a:r>
              <a:rPr lang="en-US" sz="1531" b="1" dirty="0">
                <a:solidFill>
                  <a:srgbClr val="333F70"/>
                </a:solidFill>
                <a:latin typeface="Unbounded" pitchFamily="34" charset="0"/>
                <a:ea typeface="Unbounded" pitchFamily="34" charset="-122"/>
                <a:cs typeface="Unbounded" pitchFamily="34" charset="-120"/>
              </a:rPr>
              <a:t>Password Sharing Feature</a:t>
            </a:r>
            <a:endParaRPr lang="en-US" sz="1531" dirty="0"/>
          </a:p>
        </p:txBody>
      </p:sp>
      <p:sp>
        <p:nvSpPr>
          <p:cNvPr id="13" name="Text 9"/>
          <p:cNvSpPr/>
          <p:nvPr/>
        </p:nvSpPr>
        <p:spPr>
          <a:xfrm>
            <a:off x="6842641" y="3883343"/>
            <a:ext cx="4011097" cy="994886"/>
          </a:xfrm>
          <a:prstGeom prst="rect">
            <a:avLst/>
          </a:prstGeom>
          <a:noFill/>
          <a:ln/>
        </p:spPr>
        <p:txBody>
          <a:bodyPr wrap="square" rtlCol="0" anchor="t"/>
          <a:lstStyle/>
          <a:p>
            <a:pPr marL="0" indent="0" algn="l">
              <a:lnSpc>
                <a:spcPts val="1960"/>
              </a:lnSpc>
              <a:buNone/>
            </a:pPr>
            <a:endParaRPr lang="en-US" sz="1225" dirty="0"/>
          </a:p>
        </p:txBody>
      </p:sp>
      <p:sp>
        <p:nvSpPr>
          <p:cNvPr id="14" name="Shape 10"/>
          <p:cNvSpPr/>
          <p:nvPr/>
        </p:nvSpPr>
        <p:spPr>
          <a:xfrm>
            <a:off x="6725960" y="5037445"/>
            <a:ext cx="4244459" cy="15538"/>
          </a:xfrm>
          <a:prstGeom prst="roundRect">
            <a:avLst>
              <a:gd name="adj" fmla="val 450462"/>
            </a:avLst>
          </a:prstGeom>
          <a:solidFill>
            <a:srgbClr val="BCDBD4"/>
          </a:solidFill>
          <a:ln/>
        </p:spPr>
      </p:sp>
      <p:sp>
        <p:nvSpPr>
          <p:cNvPr id="16" name="Text 11"/>
          <p:cNvSpPr/>
          <p:nvPr/>
        </p:nvSpPr>
        <p:spPr>
          <a:xfrm>
            <a:off x="5386507" y="5738098"/>
            <a:ext cx="163116" cy="310991"/>
          </a:xfrm>
          <a:prstGeom prst="rect">
            <a:avLst/>
          </a:prstGeom>
          <a:noFill/>
          <a:ln/>
        </p:spPr>
        <p:txBody>
          <a:bodyPr wrap="none" rtlCol="0" anchor="t"/>
          <a:lstStyle/>
          <a:p>
            <a:pPr marL="0" indent="0" algn="ctr">
              <a:lnSpc>
                <a:spcPts val="2449"/>
              </a:lnSpc>
              <a:buNone/>
            </a:pPr>
            <a:endParaRPr lang="en-US" sz="1531" dirty="0"/>
          </a:p>
        </p:txBody>
      </p:sp>
      <p:sp>
        <p:nvSpPr>
          <p:cNvPr id="18" name="Text 13"/>
          <p:cNvSpPr/>
          <p:nvPr/>
        </p:nvSpPr>
        <p:spPr>
          <a:xfrm>
            <a:off x="6842641" y="3870722"/>
            <a:ext cx="3401616" cy="497443"/>
          </a:xfrm>
          <a:prstGeom prst="rect">
            <a:avLst/>
          </a:prstGeom>
          <a:noFill/>
          <a:ln/>
        </p:spPr>
        <p:txBody>
          <a:bodyPr wrap="square" rtlCol="0" anchor="t"/>
          <a:lstStyle/>
          <a:p>
            <a:pPr marL="0" indent="0" algn="l">
              <a:lnSpc>
                <a:spcPts val="1960"/>
              </a:lnSpc>
              <a:buNone/>
            </a:pPr>
            <a:r>
              <a:rPr lang="en-US" sz="1225" dirty="0">
                <a:solidFill>
                  <a:srgbClr val="333F70"/>
                </a:solidFill>
                <a:latin typeface="Open Sans" pitchFamily="34" charset="0"/>
                <a:ea typeface="Open Sans" pitchFamily="34" charset="-122"/>
                <a:cs typeface="Open Sans" pitchFamily="34" charset="-120"/>
              </a:rPr>
              <a:t>Secure password sharing functionalities, such as encrypted sharing with trusted contacts</a:t>
            </a:r>
            <a:endParaRPr lang="en-US" sz="1225" dirty="0"/>
          </a:p>
        </p:txBody>
      </p:sp>
      <p:sp>
        <p:nvSpPr>
          <p:cNvPr id="19" name="Text 14"/>
          <p:cNvSpPr/>
          <p:nvPr/>
        </p:nvSpPr>
        <p:spPr>
          <a:xfrm>
            <a:off x="3621167" y="5490418"/>
            <a:ext cx="7388066" cy="994886"/>
          </a:xfrm>
          <a:prstGeom prst="rect">
            <a:avLst/>
          </a:prstGeom>
          <a:noFill/>
          <a:ln/>
        </p:spPr>
        <p:txBody>
          <a:bodyPr wrap="square" rtlCol="0" anchor="t"/>
          <a:lstStyle/>
          <a:p>
            <a:pPr marL="0" indent="0">
              <a:lnSpc>
                <a:spcPts val="1960"/>
              </a:lnSpc>
              <a:buNone/>
            </a:pPr>
            <a:r>
              <a:rPr lang="en-US" sz="1225" dirty="0">
                <a:solidFill>
                  <a:srgbClr val="333F70"/>
                </a:solidFill>
                <a:latin typeface="Open Sans" pitchFamily="34" charset="0"/>
                <a:ea typeface="Open Sans" pitchFamily="34" charset="-122"/>
                <a:cs typeface="Open Sans" pitchFamily="34" charset="-120"/>
              </a:rPr>
              <a:t>As our password manager evolves, we plan to introduce features that further enhance the security and convenience of digital life management. This includes enabling secure password sharing, creating virtual vaults for different purposes, and implementing digital legacy solutions to give users control over account access even after they're gone.</a:t>
            </a:r>
            <a:endParaRPr lang="en-US" sz="12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sp>
        <p:nvSpPr>
          <p:cNvPr id="5" name="Text 2"/>
          <p:cNvSpPr/>
          <p:nvPr/>
        </p:nvSpPr>
        <p:spPr>
          <a:xfrm>
            <a:off x="833199" y="3291364"/>
            <a:ext cx="7477601" cy="958215"/>
          </a:xfrm>
          <a:prstGeom prst="rect">
            <a:avLst/>
          </a:prstGeom>
          <a:noFill/>
          <a:ln/>
        </p:spPr>
        <p:txBody>
          <a:bodyPr wrap="none" rtlCol="0" anchor="t"/>
          <a:lstStyle/>
          <a:p>
            <a:pPr marL="0" indent="0">
              <a:lnSpc>
                <a:spcPts val="7545"/>
              </a:lnSpc>
              <a:buNone/>
            </a:pPr>
            <a:r>
              <a:rPr lang="en-US" sz="6036" b="1" dirty="0">
                <a:solidFill>
                  <a:srgbClr val="333F70"/>
                </a:solidFill>
                <a:latin typeface="Unbounded" pitchFamily="34" charset="0"/>
                <a:ea typeface="Unbounded" pitchFamily="34" charset="-122"/>
                <a:cs typeface="Unbounded" pitchFamily="34" charset="-120"/>
              </a:rPr>
              <a:t>Thank you</a:t>
            </a:r>
            <a:endParaRPr lang="en-US" sz="6036" dirty="0"/>
          </a:p>
        </p:txBody>
      </p:sp>
      <p:sp>
        <p:nvSpPr>
          <p:cNvPr id="6" name="Text 3"/>
          <p:cNvSpPr/>
          <p:nvPr/>
        </p:nvSpPr>
        <p:spPr>
          <a:xfrm>
            <a:off x="833199" y="4582835"/>
            <a:ext cx="7477601" cy="355402"/>
          </a:xfrm>
          <a:prstGeom prst="rect">
            <a:avLst/>
          </a:prstGeom>
          <a:noFill/>
          <a:ln/>
        </p:spPr>
        <p:txBody>
          <a:bodyPr wrap="none" rtlCol="0" anchor="t"/>
          <a:lstStyle/>
          <a:p>
            <a:pPr marL="0" indent="0">
              <a:lnSpc>
                <a:spcPts val="2799"/>
              </a:lnSpc>
              <a:buNone/>
            </a:pPr>
            <a:r>
              <a:rPr lang="en-US" sz="1750" dirty="0">
                <a:solidFill>
                  <a:srgbClr val="333F70"/>
                </a:solidFill>
                <a:latin typeface="Open Sans" pitchFamily="34" charset="0"/>
                <a:ea typeface="Open Sans" pitchFamily="34" charset="-122"/>
                <a:cs typeface="Open Sans" pitchFamily="34" charset="-120"/>
              </a:rPr>
              <a:t>Any Question?</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627</Words>
  <Application>Microsoft Office PowerPoint</Application>
  <PresentationFormat>Custom</PresentationFormat>
  <Paragraphs>77</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Open Sans</vt:lpstr>
      <vt:lpstr>Unbounded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DELL</cp:lastModifiedBy>
  <cp:revision>11</cp:revision>
  <dcterms:created xsi:type="dcterms:W3CDTF">2024-05-08T05:52:55Z</dcterms:created>
  <dcterms:modified xsi:type="dcterms:W3CDTF">2024-05-09T05:58:50Z</dcterms:modified>
</cp:coreProperties>
</file>